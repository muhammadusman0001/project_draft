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Bold" panose="02000000000000000000" charset="0"/>
      <p:regular r:id="rId16"/>
    </p:embeddedFont>
    <p:embeddedFont>
      <p:font typeface="Roboto Condensed" panose="02000000000000000000" pitchFamily="2" charset="0"/>
      <p:regular r:id="rId17"/>
      <p:italic r:id="rId18"/>
    </p:embeddedFont>
    <p:embeddedFont>
      <p:font typeface="Roboto Condensed Bold" panose="020000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82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image" Target="../media/image81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5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image" Target="../media/image104.pn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42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image" Target="../media/image141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524625" y="3638550"/>
            <a:ext cx="11763375" cy="6648450"/>
          </a:xfrm>
          <a:custGeom>
            <a:avLst/>
            <a:gdLst/>
            <a:ahLst/>
            <a:cxnLst/>
            <a:rect l="l" t="t" r="r" b="b"/>
            <a:pathLst>
              <a:path w="11763375" h="6648450">
                <a:moveTo>
                  <a:pt x="0" y="0"/>
                </a:moveTo>
                <a:lnTo>
                  <a:pt x="11763375" y="0"/>
                </a:lnTo>
                <a:lnTo>
                  <a:pt x="117633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3232" y="1429938"/>
            <a:ext cx="16125021" cy="322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4"/>
              </a:lnSpc>
            </a:pPr>
            <a:r>
              <a:rPr lang="en-US" sz="882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MEDS-S1 R-03:  </a:t>
            </a:r>
            <a:r>
              <a:rPr lang="en-US" sz="8824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Instruction Cache, Data Cache, Zicbom, and meds_sram_wrapper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6526771"/>
            <a:ext cx="8833104" cy="67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386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Presented by: Muhammad Usman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7114493"/>
            <a:ext cx="4221480" cy="643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3861" dirty="0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August 20th,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6655" y="1845993"/>
            <a:ext cx="7371969" cy="949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06"/>
              </a:lnSpc>
            </a:pPr>
            <a:r>
              <a:rPr lang="en-US" sz="7406" b="1" spc="-222" dirty="0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SCOPE &amp; CONTEXT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6656" y="2957513"/>
            <a:ext cx="530352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29" spc="-9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 the cache subsystem abstraction for MEDS-S1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6656" y="4523161"/>
            <a:ext cx="4133088" cy="93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868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12-week </a:t>
            </a:r>
            <a:r>
              <a:rPr lang="en-US" sz="2868" b="1" spc="-86">
                <a:solidFill>
                  <a:srgbClr val="7AC2FF"/>
                </a:solidFill>
                <a:latin typeface="Roboto Bold"/>
                <a:ea typeface="Roboto Bold"/>
                <a:cs typeface="Roboto Bold"/>
                <a:sym typeface="Roboto Bold"/>
              </a:rPr>
              <a:t>Priority P1</a:t>
            </a:r>
            <a:r>
              <a:rPr lang="en-US" sz="2868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project</a:t>
            </a:r>
          </a:p>
          <a:p>
            <a:pPr algn="l">
              <a:lnSpc>
                <a:spcPts val="3729"/>
              </a:lnSpc>
            </a:pPr>
            <a:r>
              <a:rPr lang="en-US" sz="2868" spc="-8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MEDS-S1 WP7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" y="5871745"/>
            <a:ext cx="6268212" cy="953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5"/>
              </a:lnSpc>
            </a:pPr>
            <a:r>
              <a:rPr lang="en-US" sz="2904" spc="-87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Delivering a parameterized </a:t>
            </a:r>
            <a:r>
              <a:rPr lang="en-US" sz="2904" b="1" spc="-87" dirty="0">
                <a:solidFill>
                  <a:srgbClr val="7AC2FF"/>
                </a:solidFill>
                <a:latin typeface="Roboto Bold"/>
                <a:ea typeface="Roboto Bold"/>
                <a:cs typeface="Roboto Bold"/>
                <a:sym typeface="Roboto Bold"/>
              </a:rPr>
              <a:t>I$ </a:t>
            </a:r>
            <a:r>
              <a:rPr lang="en-US" sz="2904" spc="-87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904" b="1" spc="-87" dirty="0">
                <a:solidFill>
                  <a:srgbClr val="7AC2FF"/>
                </a:solidFill>
                <a:latin typeface="Roboto Bold"/>
                <a:ea typeface="Roboto Bold"/>
                <a:cs typeface="Roboto Bold"/>
                <a:sym typeface="Roboto Bold"/>
              </a:rPr>
              <a:t>D$ </a:t>
            </a:r>
            <a:r>
              <a:rPr lang="en-US" sz="2904" spc="-87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</a:t>
            </a:r>
            <a:r>
              <a:rPr lang="en-US" sz="2904" b="1" spc="-87" dirty="0" err="1">
                <a:solidFill>
                  <a:srgbClr val="7AC2FF"/>
                </a:solidFill>
                <a:latin typeface="Roboto Bold"/>
                <a:ea typeface="Roboto Bold"/>
                <a:cs typeface="Roboto Bold"/>
                <a:sym typeface="Roboto Bold"/>
              </a:rPr>
              <a:t>meds_sram_wrapper</a:t>
            </a:r>
            <a:r>
              <a:rPr lang="en-US" sz="2904" spc="-87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abstraction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6656" y="7257078"/>
            <a:ext cx="6218682" cy="898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45"/>
              </a:lnSpc>
            </a:pPr>
            <a:r>
              <a:rPr lang="en-US" sz="2726" spc="-8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Implements </a:t>
            </a:r>
            <a:r>
              <a:rPr lang="en-US" sz="2726" b="1" spc="-81" dirty="0" err="1">
                <a:solidFill>
                  <a:srgbClr val="7AC2FF"/>
                </a:solidFill>
                <a:latin typeface="Roboto Bold"/>
                <a:ea typeface="Roboto Bold"/>
                <a:cs typeface="Roboto Bold"/>
                <a:sym typeface="Roboto Bold"/>
              </a:rPr>
              <a:t>Zichom</a:t>
            </a:r>
            <a:r>
              <a:rPr lang="en-US" sz="2726" spc="-8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extension</a:t>
            </a:r>
          </a:p>
          <a:p>
            <a:pPr algn="l">
              <a:lnSpc>
                <a:spcPts val="3545"/>
              </a:lnSpc>
            </a:pPr>
            <a:r>
              <a:rPr lang="en-US" sz="2726" spc="-8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CBO.CLEAN, CBO.INVAL, CBO.FLUISH</a:t>
            </a:r>
          </a:p>
        </p:txBody>
      </p:sp>
      <p:sp>
        <p:nvSpPr>
          <p:cNvPr id="8" name="Freeform 8"/>
          <p:cNvSpPr/>
          <p:nvPr/>
        </p:nvSpPr>
        <p:spPr>
          <a:xfrm>
            <a:off x="9144000" y="428625"/>
            <a:ext cx="6972300" cy="1285875"/>
          </a:xfrm>
          <a:custGeom>
            <a:avLst/>
            <a:gdLst/>
            <a:ahLst/>
            <a:cxnLst/>
            <a:rect l="l" t="t" r="r" b="b"/>
            <a:pathLst>
              <a:path w="6972300" h="1285875">
                <a:moveTo>
                  <a:pt x="0" y="0"/>
                </a:moveTo>
                <a:lnTo>
                  <a:pt x="6972300" y="0"/>
                </a:lnTo>
                <a:lnTo>
                  <a:pt x="6972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740896" y="928688"/>
            <a:ext cx="193852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spc="-8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MEDS-S1 SoC</a:t>
            </a:r>
          </a:p>
        </p:txBody>
      </p:sp>
      <p:sp>
        <p:nvSpPr>
          <p:cNvPr id="10" name="Freeform 10"/>
          <p:cNvSpPr/>
          <p:nvPr/>
        </p:nvSpPr>
        <p:spPr>
          <a:xfrm>
            <a:off x="9353550" y="1495425"/>
            <a:ext cx="6543675" cy="1076325"/>
          </a:xfrm>
          <a:custGeom>
            <a:avLst/>
            <a:gdLst/>
            <a:ahLst/>
            <a:cxnLst/>
            <a:rect l="l" t="t" r="r" b="b"/>
            <a:pathLst>
              <a:path w="6543675" h="1076325">
                <a:moveTo>
                  <a:pt x="0" y="0"/>
                </a:moveTo>
                <a:lnTo>
                  <a:pt x="6543675" y="0"/>
                </a:lnTo>
                <a:lnTo>
                  <a:pt x="6543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048625" y="2352675"/>
            <a:ext cx="3057525" cy="2362200"/>
          </a:xfrm>
          <a:custGeom>
            <a:avLst/>
            <a:gdLst/>
            <a:ahLst/>
            <a:cxnLst/>
            <a:rect l="l" t="t" r="r" b="b"/>
            <a:pathLst>
              <a:path w="3057525" h="2362200">
                <a:moveTo>
                  <a:pt x="0" y="0"/>
                </a:moveTo>
                <a:lnTo>
                  <a:pt x="3057525" y="0"/>
                </a:lnTo>
                <a:lnTo>
                  <a:pt x="305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869680" y="2894838"/>
            <a:ext cx="157276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spc="-8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Instruction Cache (I$)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4816" y="3883533"/>
            <a:ext cx="162763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337" b="1" spc="-70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Parameterized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315700" y="2352675"/>
            <a:ext cx="2838450" cy="2362200"/>
          </a:xfrm>
          <a:custGeom>
            <a:avLst/>
            <a:gdLst/>
            <a:ahLst/>
            <a:cxnLst/>
            <a:rect l="l" t="t" r="r" b="b"/>
            <a:pathLst>
              <a:path w="2838450" h="236220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1960352" y="2894838"/>
            <a:ext cx="148132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spc="-8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</a:t>
            </a:r>
          </a:p>
          <a:p>
            <a:pPr algn="ctr">
              <a:lnSpc>
                <a:spcPts val="3357"/>
              </a:lnSpc>
            </a:pPr>
            <a:r>
              <a:rPr lang="en-US" sz="2797" spc="-8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Cache (D$)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68912" y="3883533"/>
            <a:ext cx="162763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337" b="1" spc="-70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Parameterized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144625" y="2352675"/>
            <a:ext cx="3276600" cy="2362200"/>
          </a:xfrm>
          <a:custGeom>
            <a:avLst/>
            <a:gdLst/>
            <a:ahLst/>
            <a:cxnLst/>
            <a:rect l="l" t="t" r="r" b="b"/>
            <a:pathLst>
              <a:path w="3276600" h="2362200">
                <a:moveTo>
                  <a:pt x="0" y="0"/>
                </a:moveTo>
                <a:lnTo>
                  <a:pt x="3276600" y="0"/>
                </a:lnTo>
                <a:lnTo>
                  <a:pt x="3276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4520672" y="3077146"/>
            <a:ext cx="259689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656" spc="-7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meds_sram_wrapper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13280" y="3886200"/>
            <a:ext cx="199339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2" b="1" spc="-71" dirty="0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Abstraction Layer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72625" y="4495800"/>
            <a:ext cx="6324600" cy="866775"/>
          </a:xfrm>
          <a:custGeom>
            <a:avLst/>
            <a:gdLst/>
            <a:ahLst/>
            <a:cxnLst/>
            <a:rect l="l" t="t" r="r" b="b"/>
            <a:pathLst>
              <a:path w="6324600" h="866775">
                <a:moveTo>
                  <a:pt x="0" y="0"/>
                </a:moveTo>
                <a:lnTo>
                  <a:pt x="6324600" y="0"/>
                </a:lnTo>
                <a:lnTo>
                  <a:pt x="6324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144000" y="5143500"/>
            <a:ext cx="6972300" cy="1714500"/>
          </a:xfrm>
          <a:custGeom>
            <a:avLst/>
            <a:gdLst/>
            <a:ahLst/>
            <a:cxnLst/>
            <a:rect l="l" t="t" r="r" b="b"/>
            <a:pathLst>
              <a:path w="6972300" h="1714500">
                <a:moveTo>
                  <a:pt x="0" y="0"/>
                </a:moveTo>
                <a:lnTo>
                  <a:pt x="6972300" y="0"/>
                </a:lnTo>
                <a:lnTo>
                  <a:pt x="6972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1503152" y="5578412"/>
            <a:ext cx="241401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spc="-8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Zichom Extension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0736" y="6089713"/>
            <a:ext cx="451713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1" spc="-72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CBO.CLEAN | CBO.INVAL | CBO.FLUSH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401550" y="6638925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181850" y="7286625"/>
            <a:ext cx="10896600" cy="857250"/>
          </a:xfrm>
          <a:custGeom>
            <a:avLst/>
            <a:gdLst/>
            <a:ahLst/>
            <a:cxnLst/>
            <a:rect l="l" t="t" r="r" b="b"/>
            <a:pathLst>
              <a:path w="10896600" h="857250">
                <a:moveTo>
                  <a:pt x="0" y="0"/>
                </a:moveTo>
                <a:lnTo>
                  <a:pt x="10896600" y="0"/>
                </a:lnTo>
                <a:lnTo>
                  <a:pt x="10896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735056" y="7572185"/>
            <a:ext cx="4078224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sz="2620" spc="-78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12-WEEK PROJECT TIMELINE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81850" y="8143875"/>
            <a:ext cx="3486150" cy="1504950"/>
          </a:xfrm>
          <a:custGeom>
            <a:avLst/>
            <a:gdLst/>
            <a:ahLst/>
            <a:cxnLst/>
            <a:rect l="l" t="t" r="r" b="b"/>
            <a:pathLst>
              <a:path w="3486150" h="1504950">
                <a:moveTo>
                  <a:pt x="0" y="0"/>
                </a:moveTo>
                <a:lnTo>
                  <a:pt x="3486150" y="0"/>
                </a:lnTo>
                <a:lnTo>
                  <a:pt x="3486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193024" y="8397050"/>
            <a:ext cx="153619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762" spc="-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WEEKS 1–4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63840" y="8962644"/>
            <a:ext cx="224942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159" b="1" spc="-64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Design &amp; Architecture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448925" y="8143875"/>
            <a:ext cx="3924300" cy="1504950"/>
          </a:xfrm>
          <a:custGeom>
            <a:avLst/>
            <a:gdLst/>
            <a:ahLst/>
            <a:cxnLst/>
            <a:rect l="l" t="t" r="r" b="b"/>
            <a:pathLst>
              <a:path w="3924300" h="1504950">
                <a:moveTo>
                  <a:pt x="0" y="0"/>
                </a:moveTo>
                <a:lnTo>
                  <a:pt x="3924300" y="0"/>
                </a:lnTo>
                <a:lnTo>
                  <a:pt x="3924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1649456" y="8397050"/>
            <a:ext cx="153619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762" spc="-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WEEKS 5–9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54512" y="8957881"/>
            <a:ext cx="296265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b="1" spc="-63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Implementation &amp; Integration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14144625" y="8143875"/>
            <a:ext cx="3933825" cy="1504950"/>
          </a:xfrm>
          <a:custGeom>
            <a:avLst/>
            <a:gdLst/>
            <a:ahLst/>
            <a:cxnLst/>
            <a:rect l="l" t="t" r="r" b="b"/>
            <a:pathLst>
              <a:path w="3933825" h="1504950">
                <a:moveTo>
                  <a:pt x="0" y="0"/>
                </a:moveTo>
                <a:lnTo>
                  <a:pt x="3933825" y="0"/>
                </a:lnTo>
                <a:lnTo>
                  <a:pt x="3933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5142464" y="8397050"/>
            <a:ext cx="186537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762" spc="-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WEEKS 10–12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904720" y="8948356"/>
            <a:ext cx="232257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2195" b="1" spc="-65">
                <a:solidFill>
                  <a:srgbClr val="7AC2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Verification &amp; Delivery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6656" y="842179"/>
            <a:ext cx="3819144" cy="950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7441" b="1" spc="-223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13232" y="665037"/>
            <a:ext cx="12161520" cy="213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73"/>
              </a:lnSpc>
            </a:pPr>
            <a:r>
              <a:rPr lang="en-US" sz="878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ZICBOM — </a:t>
            </a:r>
            <a:r>
              <a:rPr lang="en-US" sz="8788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SOFTWARE COHERENCY CONTRACT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3429000"/>
            <a:ext cx="3495675" cy="2362200"/>
          </a:xfrm>
          <a:custGeom>
            <a:avLst/>
            <a:gdLst/>
            <a:ahLst/>
            <a:cxnLst/>
            <a:rect l="l" t="t" r="r" b="b"/>
            <a:pathLst>
              <a:path w="3495675" h="2362200">
                <a:moveTo>
                  <a:pt x="0" y="0"/>
                </a:moveTo>
                <a:lnTo>
                  <a:pt x="3495675" y="0"/>
                </a:lnTo>
                <a:lnTo>
                  <a:pt x="3495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8992" y="4116320"/>
            <a:ext cx="2633472" cy="5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CPU / SOFTWARE</a:t>
            </a:r>
          </a:p>
        </p:txBody>
      </p:sp>
      <p:sp>
        <p:nvSpPr>
          <p:cNvPr id="6" name="Freeform 6"/>
          <p:cNvSpPr/>
          <p:nvPr/>
        </p:nvSpPr>
        <p:spPr>
          <a:xfrm>
            <a:off x="3914775" y="428625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171700" y="5572125"/>
            <a:ext cx="447675" cy="1933575"/>
          </a:xfrm>
          <a:custGeom>
            <a:avLst/>
            <a:gdLst/>
            <a:ahLst/>
            <a:cxnLst/>
            <a:rect l="l" t="t" r="r" b="b"/>
            <a:pathLst>
              <a:path w="447675" h="1933575">
                <a:moveTo>
                  <a:pt x="0" y="0"/>
                </a:moveTo>
                <a:lnTo>
                  <a:pt x="447675" y="0"/>
                </a:lnTo>
                <a:lnTo>
                  <a:pt x="447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171700" y="7286625"/>
            <a:ext cx="3924300" cy="428625"/>
          </a:xfrm>
          <a:custGeom>
            <a:avLst/>
            <a:gdLst/>
            <a:ahLst/>
            <a:cxnLst/>
            <a:rect l="l" t="t" r="r" b="b"/>
            <a:pathLst>
              <a:path w="3924300" h="428625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781550" y="3000375"/>
            <a:ext cx="4362450" cy="3648075"/>
          </a:xfrm>
          <a:custGeom>
            <a:avLst/>
            <a:gdLst/>
            <a:ahLst/>
            <a:cxnLst/>
            <a:rect l="l" t="t" r="r" b="b"/>
            <a:pathLst>
              <a:path w="4362450" h="3648075">
                <a:moveTo>
                  <a:pt x="0" y="0"/>
                </a:moveTo>
                <a:lnTo>
                  <a:pt x="4362450" y="0"/>
                </a:lnTo>
                <a:lnTo>
                  <a:pt x="4362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724144" y="3180758"/>
            <a:ext cx="2670048" cy="43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lang="en-US" sz="244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ZICBOM COMMANDS</a:t>
            </a:r>
          </a:p>
        </p:txBody>
      </p:sp>
      <p:sp>
        <p:nvSpPr>
          <p:cNvPr id="11" name="Freeform 11"/>
          <p:cNvSpPr/>
          <p:nvPr/>
        </p:nvSpPr>
        <p:spPr>
          <a:xfrm>
            <a:off x="5000625" y="3638550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19088" y="3840720"/>
            <a:ext cx="1316736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CBO_CLEAN</a:t>
            </a:r>
          </a:p>
        </p:txBody>
      </p:sp>
      <p:sp>
        <p:nvSpPr>
          <p:cNvPr id="13" name="Freeform 13"/>
          <p:cNvSpPr/>
          <p:nvPr/>
        </p:nvSpPr>
        <p:spPr>
          <a:xfrm>
            <a:off x="5000625" y="4495800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419088" y="4778499"/>
            <a:ext cx="1261872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15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CBO.INVAL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9904" y="5133037"/>
            <a:ext cx="1938528" cy="33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invalidate stale lines</a:t>
            </a:r>
          </a:p>
        </p:txBody>
      </p:sp>
      <p:sp>
        <p:nvSpPr>
          <p:cNvPr id="16" name="Freeform 16"/>
          <p:cNvSpPr/>
          <p:nvPr/>
        </p:nvSpPr>
        <p:spPr>
          <a:xfrm>
            <a:off x="5000625" y="5572125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419088" y="5706079"/>
            <a:ext cx="1261872" cy="34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CBO.FLUISH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07024" y="6048580"/>
            <a:ext cx="2359152" cy="33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1876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 + invalidate atomic</a:t>
            </a:r>
          </a:p>
        </p:txBody>
      </p:sp>
      <p:sp>
        <p:nvSpPr>
          <p:cNvPr id="19" name="Freeform 19"/>
          <p:cNvSpPr/>
          <p:nvPr/>
        </p:nvSpPr>
        <p:spPr>
          <a:xfrm>
            <a:off x="9144000" y="4286250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229850" y="3429000"/>
            <a:ext cx="3057525" cy="2571750"/>
          </a:xfrm>
          <a:custGeom>
            <a:avLst/>
            <a:gdLst/>
            <a:ahLst/>
            <a:cxnLst/>
            <a:rect l="l" t="t" r="r" b="b"/>
            <a:pathLst>
              <a:path w="3057525" h="2571750">
                <a:moveTo>
                  <a:pt x="0" y="0"/>
                </a:moveTo>
                <a:lnTo>
                  <a:pt x="3057525" y="0"/>
                </a:lnTo>
                <a:lnTo>
                  <a:pt x="3057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247120" y="3638892"/>
            <a:ext cx="987552" cy="4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7"/>
              </a:lnSpc>
            </a:pPr>
            <a:r>
              <a:rPr lang="en-US" sz="272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CACHE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00435" y="4118331"/>
            <a:ext cx="1449747" cy="357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159" dirty="0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cache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448925" y="4495800"/>
            <a:ext cx="2619375" cy="1295400"/>
          </a:xfrm>
          <a:custGeom>
            <a:avLst/>
            <a:gdLst/>
            <a:ahLst/>
            <a:cxnLst/>
            <a:rect l="l" t="t" r="r" b="b"/>
            <a:pathLst>
              <a:path w="2619375" h="1295400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1534775" y="5781675"/>
            <a:ext cx="447675" cy="1295400"/>
          </a:xfrm>
          <a:custGeom>
            <a:avLst/>
            <a:gdLst/>
            <a:ahLst/>
            <a:cxnLst/>
            <a:rect l="l" t="t" r="r" b="b"/>
            <a:pathLst>
              <a:path w="447675" h="1295400">
                <a:moveTo>
                  <a:pt x="0" y="0"/>
                </a:moveTo>
                <a:lnTo>
                  <a:pt x="447675" y="0"/>
                </a:lnTo>
                <a:lnTo>
                  <a:pt x="447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2620625" y="7286625"/>
            <a:ext cx="3933825" cy="428625"/>
          </a:xfrm>
          <a:custGeom>
            <a:avLst/>
            <a:gdLst/>
            <a:ahLst/>
            <a:cxnLst/>
            <a:rect l="l" t="t" r="r" b="b"/>
            <a:pathLst>
              <a:path w="3933825" h="428625">
                <a:moveTo>
                  <a:pt x="0" y="0"/>
                </a:moveTo>
                <a:lnTo>
                  <a:pt x="3933825" y="0"/>
                </a:lnTo>
                <a:lnTo>
                  <a:pt x="3933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5240000" y="3429000"/>
            <a:ext cx="2400300" cy="2362200"/>
          </a:xfrm>
          <a:custGeom>
            <a:avLst/>
            <a:gdLst/>
            <a:ahLst/>
            <a:cxnLst/>
            <a:rect l="l" t="t" r="r" b="b"/>
            <a:pathLst>
              <a:path w="2400300" h="23622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3058775" y="4286250"/>
            <a:ext cx="2400300" cy="428625"/>
          </a:xfrm>
          <a:custGeom>
            <a:avLst/>
            <a:gdLst/>
            <a:ahLst/>
            <a:cxnLst/>
            <a:rect l="l" t="t" r="r" b="b"/>
            <a:pathLst>
              <a:path w="2400300" h="428625">
                <a:moveTo>
                  <a:pt x="0" y="0"/>
                </a:moveTo>
                <a:lnTo>
                  <a:pt x="2400300" y="0"/>
                </a:lnTo>
                <a:lnTo>
                  <a:pt x="2400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6325850" y="5572125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5876925" y="6858000"/>
            <a:ext cx="6972300" cy="1076325"/>
          </a:xfrm>
          <a:custGeom>
            <a:avLst/>
            <a:gdLst/>
            <a:ahLst/>
            <a:cxnLst/>
            <a:rect l="l" t="t" r="r" b="b"/>
            <a:pathLst>
              <a:path w="6972300" h="1076325">
                <a:moveTo>
                  <a:pt x="0" y="0"/>
                </a:moveTo>
                <a:lnTo>
                  <a:pt x="6972300" y="0"/>
                </a:lnTo>
                <a:lnTo>
                  <a:pt x="6972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8339328" y="7008872"/>
            <a:ext cx="1901952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STOREBUFFER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84464" y="7461744"/>
            <a:ext cx="2011680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ordered interaction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7824" y="8315044"/>
            <a:ext cx="3163824" cy="125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contract today — </a:t>
            </a:r>
            <a:r>
              <a:rPr lang="en-US" sz="2407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hardware coherency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arrives in v2</a:t>
            </a:r>
          </a:p>
        </p:txBody>
      </p:sp>
      <p:sp>
        <p:nvSpPr>
          <p:cNvPr id="33" name="Freeform 33"/>
          <p:cNvSpPr/>
          <p:nvPr/>
        </p:nvSpPr>
        <p:spPr>
          <a:xfrm>
            <a:off x="4352925" y="8143875"/>
            <a:ext cx="219075" cy="1714500"/>
          </a:xfrm>
          <a:custGeom>
            <a:avLst/>
            <a:gdLst/>
            <a:ahLst/>
            <a:cxnLst/>
            <a:rect l="l" t="t" r="r" b="b"/>
            <a:pathLst>
              <a:path w="219075" h="1714500">
                <a:moveTo>
                  <a:pt x="0" y="0"/>
                </a:moveTo>
                <a:lnTo>
                  <a:pt x="219075" y="0"/>
                </a:lnTo>
                <a:lnTo>
                  <a:pt x="219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5230368" y="8351344"/>
            <a:ext cx="2011680" cy="119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26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CBO.CLEAN</a:t>
            </a:r>
          </a:p>
          <a:p>
            <a:pPr algn="l">
              <a:lnSpc>
                <a:spcPts val="3172"/>
              </a:lnSpc>
            </a:pPr>
            <a:r>
              <a:rPr lang="en-US" sz="2266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write back before DMA reads</a:t>
            </a:r>
          </a:p>
        </p:txBody>
      </p:sp>
      <p:sp>
        <p:nvSpPr>
          <p:cNvPr id="35" name="Freeform 35"/>
          <p:cNvSpPr/>
          <p:nvPr/>
        </p:nvSpPr>
        <p:spPr>
          <a:xfrm>
            <a:off x="7620000" y="8143875"/>
            <a:ext cx="219075" cy="1714500"/>
          </a:xfrm>
          <a:custGeom>
            <a:avLst/>
            <a:gdLst/>
            <a:ahLst/>
            <a:cxnLst/>
            <a:rect l="l" t="t" r="r" b="b"/>
            <a:pathLst>
              <a:path w="219075" h="1714500">
                <a:moveTo>
                  <a:pt x="0" y="0"/>
                </a:moveTo>
                <a:lnTo>
                  <a:pt x="219075" y="0"/>
                </a:lnTo>
                <a:lnTo>
                  <a:pt x="219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8467344" y="8342269"/>
            <a:ext cx="1773936" cy="119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CBO.INVAL</a:t>
            </a:r>
          </a:p>
          <a:p>
            <a:pPr algn="l">
              <a:lnSpc>
                <a:spcPts val="3222"/>
              </a:lnSpc>
            </a:pPr>
            <a:r>
              <a:rPr lang="en-US" sz="2301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invalidate after DMA writes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877550" y="8143875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1722608" y="8314594"/>
            <a:ext cx="1700784" cy="12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CBO.FLUISH</a:t>
            </a:r>
          </a:p>
          <a:p>
            <a:pPr algn="l">
              <a:lnSpc>
                <a:spcPts val="3321"/>
              </a:lnSpc>
            </a:pPr>
            <a:r>
              <a:rPr lang="en-US" sz="2372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atomic clean and invalidate</a:t>
            </a:r>
          </a:p>
        </p:txBody>
      </p:sp>
      <p:sp>
        <p:nvSpPr>
          <p:cNvPr id="39" name="Freeform 39"/>
          <p:cNvSpPr/>
          <p:nvPr/>
        </p:nvSpPr>
        <p:spPr>
          <a:xfrm>
            <a:off x="14144625" y="8143875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4849856" y="8308117"/>
            <a:ext cx="2249424" cy="83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Correct interaction </a:t>
            </a:r>
            <a:r>
              <a:rPr lang="en-US" sz="2372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 Store Buffer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35040" y="4182771"/>
            <a:ext cx="2011680" cy="341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sz="1947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 back dirty lines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42848" y="3712392"/>
            <a:ext cx="1225296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124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COHERENT</a:t>
            </a:r>
          </a:p>
          <a:p>
            <a:pPr algn="ctr">
              <a:lnSpc>
                <a:spcPts val="2974"/>
              </a:lnSpc>
            </a:pPr>
            <a:r>
              <a:rPr lang="en-US" sz="2124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ACCESS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111728" y="4091433"/>
            <a:ext cx="731520" cy="514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297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DMA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093440" y="4610807"/>
            <a:ext cx="731520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device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4128" y="4653393"/>
            <a:ext cx="2688336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dirty="0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Issues </a:t>
            </a:r>
            <a:r>
              <a:rPr lang="en-US" sz="2088" dirty="0" err="1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zicbom</a:t>
            </a:r>
            <a:r>
              <a:rPr lang="en-US" sz="2088" dirty="0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command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428625" y="4067175"/>
            <a:ext cx="1971675" cy="2152650"/>
          </a:xfrm>
          <a:custGeom>
            <a:avLst/>
            <a:gdLst/>
            <a:ahLst/>
            <a:cxnLst/>
            <a:rect l="l" t="t" r="r" b="b"/>
            <a:pathLst>
              <a:path w="1971675" h="2152650">
                <a:moveTo>
                  <a:pt x="0" y="0"/>
                </a:moveTo>
                <a:lnTo>
                  <a:pt x="1971675" y="0"/>
                </a:lnTo>
                <a:lnTo>
                  <a:pt x="19716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7824" y="4965455"/>
            <a:ext cx="1115568" cy="2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1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CPU CORE</a:t>
            </a:r>
          </a:p>
        </p:txBody>
      </p:sp>
      <p:sp>
        <p:nvSpPr>
          <p:cNvPr id="5" name="Freeform 5"/>
          <p:cNvSpPr/>
          <p:nvPr/>
        </p:nvSpPr>
        <p:spPr>
          <a:xfrm>
            <a:off x="2171700" y="4924425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609850" y="4495800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962656" y="4888611"/>
            <a:ext cx="128016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84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CACHE CONTROLLER</a:t>
            </a:r>
          </a:p>
        </p:txBody>
      </p:sp>
      <p:sp>
        <p:nvSpPr>
          <p:cNvPr id="8" name="Freeform 8"/>
          <p:cNvSpPr/>
          <p:nvPr/>
        </p:nvSpPr>
        <p:spPr>
          <a:xfrm>
            <a:off x="4352925" y="492442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572000" y="2781300"/>
            <a:ext cx="5886450" cy="4295775"/>
          </a:xfrm>
          <a:custGeom>
            <a:avLst/>
            <a:gdLst/>
            <a:ahLst/>
            <a:cxnLst/>
            <a:rect l="l" t="t" r="r" b="b"/>
            <a:pathLst>
              <a:path w="5886450" h="4295775">
                <a:moveTo>
                  <a:pt x="0" y="0"/>
                </a:moveTo>
                <a:lnTo>
                  <a:pt x="5886450" y="0"/>
                </a:lnTo>
                <a:lnTo>
                  <a:pt x="58864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632704" y="3138543"/>
            <a:ext cx="3877056" cy="30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2230" b="1">
                <a:solidFill>
                  <a:srgbClr val="78B9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2-WAY SET-ASSOCIATIVE CACHE</a:t>
            </a:r>
          </a:p>
        </p:txBody>
      </p:sp>
      <p:sp>
        <p:nvSpPr>
          <p:cNvPr id="11" name="Freeform 11"/>
          <p:cNvSpPr/>
          <p:nvPr/>
        </p:nvSpPr>
        <p:spPr>
          <a:xfrm>
            <a:off x="4781550" y="3638550"/>
            <a:ext cx="2838450" cy="3219450"/>
          </a:xfrm>
          <a:custGeom>
            <a:avLst/>
            <a:gdLst/>
            <a:ahLst/>
            <a:cxnLst/>
            <a:rect l="l" t="t" r="r" b="b"/>
            <a:pathLst>
              <a:path w="2838450" h="3219450">
                <a:moveTo>
                  <a:pt x="0" y="0"/>
                </a:moveTo>
                <a:lnTo>
                  <a:pt x="2838450" y="0"/>
                </a:lnTo>
                <a:lnTo>
                  <a:pt x="28384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870447" y="3943006"/>
            <a:ext cx="782193" cy="245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947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WAY 0</a:t>
            </a:r>
          </a:p>
        </p:txBody>
      </p:sp>
      <p:sp>
        <p:nvSpPr>
          <p:cNvPr id="13" name="Freeform 13"/>
          <p:cNvSpPr/>
          <p:nvPr/>
        </p:nvSpPr>
        <p:spPr>
          <a:xfrm>
            <a:off x="5219700" y="4286250"/>
            <a:ext cx="1971675" cy="1076325"/>
          </a:xfrm>
          <a:custGeom>
            <a:avLst/>
            <a:gdLst/>
            <a:ahLst/>
            <a:cxnLst/>
            <a:rect l="l" t="t" r="r" b="b"/>
            <a:pathLst>
              <a:path w="1971675" h="1076325">
                <a:moveTo>
                  <a:pt x="0" y="0"/>
                </a:moveTo>
                <a:lnTo>
                  <a:pt x="1971675" y="0"/>
                </a:lnTo>
                <a:lnTo>
                  <a:pt x="1971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632704" y="4674595"/>
            <a:ext cx="1133856" cy="26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91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TAG ARRAY</a:t>
            </a:r>
          </a:p>
        </p:txBody>
      </p:sp>
      <p:sp>
        <p:nvSpPr>
          <p:cNvPr id="15" name="Freeform 15"/>
          <p:cNvSpPr/>
          <p:nvPr/>
        </p:nvSpPr>
        <p:spPr>
          <a:xfrm>
            <a:off x="5219700" y="5143500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541264" y="5671947"/>
            <a:ext cx="131673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ARRAY</a:t>
            </a:r>
          </a:p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(64B LINE)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0" y="3638550"/>
            <a:ext cx="2619375" cy="3219450"/>
          </a:xfrm>
          <a:custGeom>
            <a:avLst/>
            <a:gdLst/>
            <a:ahLst/>
            <a:cxnLst/>
            <a:rect l="l" t="t" r="r" b="b"/>
            <a:pathLst>
              <a:path w="2619375" h="3219450">
                <a:moveTo>
                  <a:pt x="0" y="0"/>
                </a:moveTo>
                <a:lnTo>
                  <a:pt x="2619375" y="0"/>
                </a:lnTo>
                <a:lnTo>
                  <a:pt x="2619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631936" y="3943006"/>
            <a:ext cx="859154" cy="245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947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WAY 1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48625" y="4286250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375904" y="4674595"/>
            <a:ext cx="1133856" cy="26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91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TAG ARRAY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48625" y="5143500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284464" y="5671947"/>
            <a:ext cx="131673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ARRAY</a:t>
            </a:r>
          </a:p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(64B LINE)</a:t>
            </a:r>
          </a:p>
        </p:txBody>
      </p:sp>
      <p:sp>
        <p:nvSpPr>
          <p:cNvPr id="23" name="Freeform 23"/>
          <p:cNvSpPr/>
          <p:nvPr/>
        </p:nvSpPr>
        <p:spPr>
          <a:xfrm>
            <a:off x="6743700" y="6858000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219700" y="7715250"/>
            <a:ext cx="3714750" cy="1504950"/>
          </a:xfrm>
          <a:custGeom>
            <a:avLst/>
            <a:gdLst/>
            <a:ahLst/>
            <a:cxnLst/>
            <a:rect l="l" t="t" r="r" b="b"/>
            <a:pathLst>
              <a:path w="3714750" h="1504950">
                <a:moveTo>
                  <a:pt x="0" y="0"/>
                </a:moveTo>
                <a:lnTo>
                  <a:pt x="3714750" y="0"/>
                </a:lnTo>
                <a:lnTo>
                  <a:pt x="3714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596128" y="8298942"/>
            <a:ext cx="292608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NON-CACHEABLE PMA REGIONS (MMIO)</a:t>
            </a:r>
          </a:p>
        </p:txBody>
      </p:sp>
      <p:sp>
        <p:nvSpPr>
          <p:cNvPr id="26" name="Freeform 26"/>
          <p:cNvSpPr/>
          <p:nvPr/>
        </p:nvSpPr>
        <p:spPr>
          <a:xfrm>
            <a:off x="3476625" y="5781675"/>
            <a:ext cx="1971675" cy="2790825"/>
          </a:xfrm>
          <a:custGeom>
            <a:avLst/>
            <a:gdLst/>
            <a:ahLst/>
            <a:cxnLst/>
            <a:rect l="l" t="t" r="r" b="b"/>
            <a:pathLst>
              <a:path w="1971675" h="2790825">
                <a:moveTo>
                  <a:pt x="0" y="0"/>
                </a:moveTo>
                <a:lnTo>
                  <a:pt x="1971675" y="0"/>
                </a:lnTo>
                <a:lnTo>
                  <a:pt x="1971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229850" y="514350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0668000" y="4495800"/>
            <a:ext cx="1962150" cy="1724025"/>
          </a:xfrm>
          <a:custGeom>
            <a:avLst/>
            <a:gdLst/>
            <a:ahLst/>
            <a:cxnLst/>
            <a:rect l="l" t="t" r="r" b="b"/>
            <a:pathLst>
              <a:path w="1962150" h="1724025">
                <a:moveTo>
                  <a:pt x="0" y="0"/>
                </a:moveTo>
                <a:lnTo>
                  <a:pt x="1962150" y="0"/>
                </a:lnTo>
                <a:lnTo>
                  <a:pt x="19621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954512" y="5023104"/>
            <a:ext cx="1426464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78B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 BUFFER (WRITE-BACK)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401550" y="5143500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2839700" y="4495800"/>
            <a:ext cx="1314450" cy="1724025"/>
          </a:xfrm>
          <a:custGeom>
            <a:avLst/>
            <a:gdLst/>
            <a:ahLst/>
            <a:cxnLst/>
            <a:rect l="l" t="t" r="r" b="b"/>
            <a:pathLst>
              <a:path w="1314450" h="1724025">
                <a:moveTo>
                  <a:pt x="0" y="0"/>
                </a:moveTo>
                <a:lnTo>
                  <a:pt x="1314450" y="0"/>
                </a:lnTo>
                <a:lnTo>
                  <a:pt x="1314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3039344" y="5023104"/>
            <a:ext cx="877824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MEMORY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277850" y="6000750"/>
            <a:ext cx="228600" cy="2571750"/>
          </a:xfrm>
          <a:custGeom>
            <a:avLst/>
            <a:gdLst/>
            <a:ahLst/>
            <a:cxnLst/>
            <a:rect l="l" t="t" r="r" b="b"/>
            <a:pathLst>
              <a:path w="228600" h="2571750">
                <a:moveTo>
                  <a:pt x="0" y="0"/>
                </a:moveTo>
                <a:lnTo>
                  <a:pt x="228600" y="0"/>
                </a:lnTo>
                <a:lnTo>
                  <a:pt x="2286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4144625" y="2781300"/>
            <a:ext cx="3714750" cy="6219825"/>
          </a:xfrm>
          <a:custGeom>
            <a:avLst/>
            <a:gdLst/>
            <a:ahLst/>
            <a:cxnLst/>
            <a:rect l="l" t="t" r="r" b="b"/>
            <a:pathLst>
              <a:path w="3714750" h="6429375">
                <a:moveTo>
                  <a:pt x="0" y="0"/>
                </a:moveTo>
                <a:lnTo>
                  <a:pt x="3714750" y="0"/>
                </a:lnTo>
                <a:lnTo>
                  <a:pt x="37147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5" name="TextBox 35"/>
          <p:cNvSpPr txBox="1"/>
          <p:nvPr/>
        </p:nvSpPr>
        <p:spPr>
          <a:xfrm>
            <a:off x="14410944" y="3020949"/>
            <a:ext cx="3145536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2-way set-associative</a:t>
            </a:r>
          </a:p>
          <a:p>
            <a:pPr algn="l">
              <a:lnSpc>
                <a:spcPts val="2634"/>
              </a:lnSpc>
            </a:pPr>
            <a:r>
              <a:rPr lang="en-US" sz="2195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64-byte (512-bit) cache lines</a:t>
            </a:r>
          </a:p>
        </p:txBody>
      </p:sp>
      <p:sp>
        <p:nvSpPr>
          <p:cNvPr id="36" name="Freeform 36"/>
          <p:cNvSpPr/>
          <p:nvPr/>
        </p:nvSpPr>
        <p:spPr>
          <a:xfrm>
            <a:off x="14363700" y="4067175"/>
            <a:ext cx="3276600" cy="219075"/>
          </a:xfrm>
          <a:custGeom>
            <a:avLst/>
            <a:gdLst/>
            <a:ahLst/>
            <a:cxnLst/>
            <a:rect l="l" t="t" r="r" b="b"/>
            <a:pathLst>
              <a:path w="3276600" h="219075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4410944" y="4441317"/>
            <a:ext cx="2523744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Write-back policy with dedicated write buffer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363700" y="5353050"/>
            <a:ext cx="3276600" cy="219075"/>
          </a:xfrm>
          <a:custGeom>
            <a:avLst/>
            <a:gdLst/>
            <a:ahLst/>
            <a:cxnLst/>
            <a:rect l="l" t="t" r="r" b="b"/>
            <a:pathLst>
              <a:path w="3276600" h="219075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4410944" y="5880735"/>
            <a:ext cx="270662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2230" dirty="0">
                <a:solidFill>
                  <a:srgbClr val="78B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Blocking design</a:t>
            </a:r>
          </a:p>
          <a:p>
            <a:pPr algn="l">
              <a:lnSpc>
                <a:spcPts val="2676"/>
              </a:lnSpc>
            </a:pPr>
            <a:r>
              <a:rPr lang="en-US" sz="2230" dirty="0">
                <a:solidFill>
                  <a:srgbClr val="78B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misses stall the pipeline</a:t>
            </a:r>
          </a:p>
        </p:txBody>
      </p:sp>
      <p:sp>
        <p:nvSpPr>
          <p:cNvPr id="40" name="Freeform 40"/>
          <p:cNvSpPr/>
          <p:nvPr/>
        </p:nvSpPr>
        <p:spPr>
          <a:xfrm>
            <a:off x="14363700" y="6858000"/>
            <a:ext cx="3276600" cy="219075"/>
          </a:xfrm>
          <a:custGeom>
            <a:avLst/>
            <a:gdLst/>
            <a:ahLst/>
            <a:cxnLst/>
            <a:rect l="l" t="t" r="r" b="b"/>
            <a:pathLst>
              <a:path w="3276600" h="219075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4410944" y="7440358"/>
            <a:ext cx="2029968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dirty="0">
                <a:solidFill>
                  <a:srgbClr val="78B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Configurable sizes</a:t>
            </a:r>
          </a:p>
          <a:p>
            <a:pPr algn="l">
              <a:lnSpc>
                <a:spcPts val="2591"/>
              </a:lnSpc>
            </a:pPr>
            <a:r>
              <a:rPr lang="en-US" sz="2159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S1-Nano: 8KB</a:t>
            </a:r>
          </a:p>
          <a:p>
            <a:pPr algn="l">
              <a:lnSpc>
                <a:spcPts val="2591"/>
              </a:lnSpc>
            </a:pPr>
            <a:r>
              <a:rPr lang="en-US" sz="2159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S1/Base/AI: 16KB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6656" y="647279"/>
            <a:ext cx="10533888" cy="177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8"/>
              </a:lnSpc>
            </a:pPr>
            <a:r>
              <a:rPr lang="en-US" sz="67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CACHE MICROARCHITECTURE </a:t>
            </a:r>
            <a:r>
              <a:rPr lang="en-US" sz="6768" b="1">
                <a:solidFill>
                  <a:srgbClr val="78B9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(SPEC §15)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09360" y="7960322"/>
            <a:ext cx="1517904" cy="27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2017" b="1">
                <a:solidFill>
                  <a:srgbClr val="78B9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BYPASS PATH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7F272A-359A-1EF0-537F-7636FD08A618}"/>
              </a:ext>
            </a:extLst>
          </p:cNvPr>
          <p:cNvSpPr txBox="1"/>
          <p:nvPr/>
        </p:nvSpPr>
        <p:spPr>
          <a:xfrm>
            <a:off x="14219897" y="9121405"/>
            <a:ext cx="3714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=&gt;"I$ is structurally identical but read-only (no write buffer, no CBO.CLEAN)"</a:t>
            </a:r>
            <a:endParaRPr lang="en-US" dirty="0">
              <a:solidFill>
                <a:schemeClr val="bg2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454896" y="2217669"/>
            <a:ext cx="2103120" cy="49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3790" b="1" spc="-75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(SPEC $11)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4286250"/>
            <a:ext cx="2838450" cy="2143125"/>
          </a:xfrm>
          <a:custGeom>
            <a:avLst/>
            <a:gdLst/>
            <a:ahLst/>
            <a:cxnLst/>
            <a:rect l="l" t="t" r="r" b="b"/>
            <a:pathLst>
              <a:path w="2838450" h="2143125">
                <a:moveTo>
                  <a:pt x="0" y="0"/>
                </a:moveTo>
                <a:lnTo>
                  <a:pt x="2838450" y="0"/>
                </a:lnTo>
                <a:lnTo>
                  <a:pt x="2838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32688" y="4695562"/>
            <a:ext cx="2231136" cy="86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 b="1" spc="-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CPU LOAD/STORE REQUEST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3583" y="5601303"/>
            <a:ext cx="1793367" cy="393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sz="2372" spc="-47" dirty="0" err="1">
                <a:solidFill>
                  <a:srgbClr val="60C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</a:t>
            </a:r>
            <a:r>
              <a:rPr lang="en-US" sz="2372" spc="-47" dirty="0">
                <a:solidFill>
                  <a:srgbClr val="60C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type, </a:t>
            </a:r>
            <a:r>
              <a:rPr lang="en-US" sz="2372" spc="-47" dirty="0" err="1">
                <a:solidFill>
                  <a:srgbClr val="60C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priv</a:t>
            </a:r>
            <a:endParaRPr lang="en-US" sz="2372" spc="-47" dirty="0">
              <a:solidFill>
                <a:srgbClr val="60C9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257550" y="5143500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695700" y="385762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352925" y="3209925"/>
            <a:ext cx="5229225" cy="1724025"/>
          </a:xfrm>
          <a:custGeom>
            <a:avLst/>
            <a:gdLst/>
            <a:ahLst/>
            <a:cxnLst/>
            <a:rect l="l" t="t" r="r" b="b"/>
            <a:pathLst>
              <a:path w="5229225" h="1724025">
                <a:moveTo>
                  <a:pt x="0" y="0"/>
                </a:moveTo>
                <a:lnTo>
                  <a:pt x="5229225" y="0"/>
                </a:lnTo>
                <a:lnTo>
                  <a:pt x="52292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907024" y="3820634"/>
            <a:ext cx="2359152" cy="33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620" spc="-52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D$ TAG LOOKUP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51418" y="4260074"/>
            <a:ext cx="2395728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2337" spc="-46" dirty="0">
                <a:solidFill>
                  <a:srgbClr val="60C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address-to-tag match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9353550" y="3857625"/>
            <a:ext cx="1104900" cy="428625"/>
          </a:xfrm>
          <a:custGeom>
            <a:avLst/>
            <a:gdLst/>
            <a:ahLst/>
            <a:cxnLst/>
            <a:rect l="l" t="t" r="r" b="b"/>
            <a:pathLst>
              <a:path w="1104900" h="428625">
                <a:moveTo>
                  <a:pt x="0" y="0"/>
                </a:moveTo>
                <a:lnTo>
                  <a:pt x="1104900" y="0"/>
                </a:lnTo>
                <a:lnTo>
                  <a:pt x="11049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352925" y="5143500"/>
            <a:ext cx="5229225" cy="2362200"/>
          </a:xfrm>
          <a:custGeom>
            <a:avLst/>
            <a:gdLst/>
            <a:ahLst/>
            <a:cxnLst/>
            <a:rect l="l" t="t" r="r" b="b"/>
            <a:pathLst>
              <a:path w="5229225" h="2362200">
                <a:moveTo>
                  <a:pt x="0" y="0"/>
                </a:moveTo>
                <a:lnTo>
                  <a:pt x="5229225" y="0"/>
                </a:lnTo>
                <a:lnTo>
                  <a:pt x="5229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705856" y="5516693"/>
            <a:ext cx="2560320" cy="34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549" spc="-5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PMA/PMP CHECKER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31536" y="5977166"/>
            <a:ext cx="3054096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2337" spc="-46">
                <a:solidFill>
                  <a:srgbClr val="60C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parallel attribute evaluation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4572000" y="6429375"/>
            <a:ext cx="1743075" cy="857250"/>
          </a:xfrm>
          <a:custGeom>
            <a:avLst/>
            <a:gdLst/>
            <a:ahLst/>
            <a:cxnLst/>
            <a:rect l="l" t="t" r="r" b="b"/>
            <a:pathLst>
              <a:path w="1743075" h="857250">
                <a:moveTo>
                  <a:pt x="0" y="0"/>
                </a:moveTo>
                <a:lnTo>
                  <a:pt x="1743075" y="0"/>
                </a:lnTo>
                <a:lnTo>
                  <a:pt x="1743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773168" y="6731995"/>
            <a:ext cx="1170432" cy="26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911" b="1" spc="-3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CACHEABLE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0" y="6429375"/>
            <a:ext cx="1743075" cy="857250"/>
          </a:xfrm>
          <a:custGeom>
            <a:avLst/>
            <a:gdLst/>
            <a:ahLst/>
            <a:cxnLst/>
            <a:rect l="l" t="t" r="r" b="b"/>
            <a:pathLst>
              <a:path w="1743075" h="857250">
                <a:moveTo>
                  <a:pt x="0" y="0"/>
                </a:moveTo>
                <a:lnTo>
                  <a:pt x="1743075" y="0"/>
                </a:lnTo>
                <a:lnTo>
                  <a:pt x="1743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345936" y="6731995"/>
            <a:ext cx="1261872" cy="26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911" b="1" spc="-3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IDEMPOTENT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0" y="6429375"/>
            <a:ext cx="1743075" cy="857250"/>
          </a:xfrm>
          <a:custGeom>
            <a:avLst/>
            <a:gdLst/>
            <a:ahLst/>
            <a:cxnLst/>
            <a:rect l="l" t="t" r="r" b="b"/>
            <a:pathLst>
              <a:path w="1743075" h="857250">
                <a:moveTo>
                  <a:pt x="0" y="0"/>
                </a:moveTo>
                <a:lnTo>
                  <a:pt x="1743075" y="0"/>
                </a:lnTo>
                <a:lnTo>
                  <a:pt x="1743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353550" y="5781675"/>
            <a:ext cx="1104900" cy="438150"/>
          </a:xfrm>
          <a:custGeom>
            <a:avLst/>
            <a:gdLst/>
            <a:ahLst/>
            <a:cxnLst/>
            <a:rect l="l" t="t" r="r" b="b"/>
            <a:pathLst>
              <a:path w="1104900" h="438150">
                <a:moveTo>
                  <a:pt x="0" y="0"/>
                </a:moveTo>
                <a:lnTo>
                  <a:pt x="1104900" y="0"/>
                </a:lnTo>
                <a:lnTo>
                  <a:pt x="11049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229850" y="3429000"/>
            <a:ext cx="3705225" cy="3648075"/>
          </a:xfrm>
          <a:custGeom>
            <a:avLst/>
            <a:gdLst/>
            <a:ahLst/>
            <a:cxnLst/>
            <a:rect l="l" t="t" r="r" b="b"/>
            <a:pathLst>
              <a:path w="3705225" h="3648075">
                <a:moveTo>
                  <a:pt x="0" y="0"/>
                </a:moveTo>
                <a:lnTo>
                  <a:pt x="3705225" y="0"/>
                </a:lnTo>
                <a:lnTo>
                  <a:pt x="37052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1064240" y="4067128"/>
            <a:ext cx="227076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78"/>
              </a:lnSpc>
            </a:pPr>
            <a:r>
              <a:rPr lang="en-US" sz="2478" spc="-49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DECISION LOGIC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4171" y="4456593"/>
            <a:ext cx="1773936" cy="3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2301" spc="-46" dirty="0">
                <a:solidFill>
                  <a:srgbClr val="60C9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combine results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448925" y="5143500"/>
            <a:ext cx="3267075" cy="1504950"/>
          </a:xfrm>
          <a:custGeom>
            <a:avLst/>
            <a:gdLst/>
            <a:ahLst/>
            <a:cxnLst/>
            <a:rect l="l" t="t" r="r" b="b"/>
            <a:pathLst>
              <a:path w="3267075" h="1504950">
                <a:moveTo>
                  <a:pt x="0" y="0"/>
                </a:moveTo>
                <a:lnTo>
                  <a:pt x="3267075" y="0"/>
                </a:lnTo>
                <a:lnTo>
                  <a:pt x="3267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844784" y="5503542"/>
            <a:ext cx="2395728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159" b="1" spc="-4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ACCESS PROCEEDS? CACHE THIS ACCESS?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716000" y="5143500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4363700" y="3638550"/>
            <a:ext cx="3276600" cy="3438525"/>
          </a:xfrm>
          <a:custGeom>
            <a:avLst/>
            <a:gdLst/>
            <a:ahLst/>
            <a:cxnLst/>
            <a:rect l="l" t="t" r="r" b="b"/>
            <a:pathLst>
              <a:path w="3276600" h="3438525">
                <a:moveTo>
                  <a:pt x="0" y="0"/>
                </a:moveTo>
                <a:lnTo>
                  <a:pt x="3276600" y="0"/>
                </a:lnTo>
                <a:lnTo>
                  <a:pt x="32766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5544800" y="4066226"/>
            <a:ext cx="1066800" cy="322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549" spc="-50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758416" y="4840729"/>
            <a:ext cx="2596896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2195" b="1" spc="-43" dirty="0">
                <a:solidFill>
                  <a:srgbClr val="60C9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ALLOW / DENY ACCESS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582775" y="5353050"/>
            <a:ext cx="2838450" cy="219075"/>
          </a:xfrm>
          <a:custGeom>
            <a:avLst/>
            <a:gdLst/>
            <a:ahLst/>
            <a:cxnLst/>
            <a:rect l="l" t="t" r="r" b="b"/>
            <a:pathLst>
              <a:path w="2838450" h="219075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4740128" y="5742567"/>
            <a:ext cx="2542032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1" spc="-44">
                <a:solidFill>
                  <a:srgbClr val="60C9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CACHE / BYPASS (NO CACHE POLLUTION)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" y="7924800"/>
            <a:ext cx="16992600" cy="1933575"/>
          </a:xfrm>
          <a:custGeom>
            <a:avLst/>
            <a:gdLst/>
            <a:ahLst/>
            <a:cxnLst/>
            <a:rect l="l" t="t" r="r" b="b"/>
            <a:pathLst>
              <a:path w="16992600" h="1933575">
                <a:moveTo>
                  <a:pt x="0" y="0"/>
                </a:moveTo>
                <a:lnTo>
                  <a:pt x="16992600" y="0"/>
                </a:lnTo>
                <a:lnTo>
                  <a:pt x="1699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664208" y="8326283"/>
            <a:ext cx="3438144" cy="99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sz="2797" spc="-5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Attributes checked</a:t>
            </a:r>
          </a:p>
          <a:p>
            <a:pPr algn="ctr">
              <a:lnSpc>
                <a:spcPts val="3916"/>
              </a:lnSpc>
            </a:pPr>
            <a:r>
              <a:rPr lang="en-US" sz="2797" spc="-5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parallel with tag lookup</a:t>
            </a:r>
          </a:p>
        </p:txBody>
      </p:sp>
      <p:sp>
        <p:nvSpPr>
          <p:cNvPr id="35" name="Freeform 35"/>
          <p:cNvSpPr/>
          <p:nvPr/>
        </p:nvSpPr>
        <p:spPr>
          <a:xfrm>
            <a:off x="6096000" y="8143875"/>
            <a:ext cx="219075" cy="1285875"/>
          </a:xfrm>
          <a:custGeom>
            <a:avLst/>
            <a:gdLst/>
            <a:ahLst/>
            <a:cxnLst/>
            <a:rect l="l" t="t" r="r" b="b"/>
            <a:pathLst>
              <a:path w="219075" h="1285875">
                <a:moveTo>
                  <a:pt x="0" y="0"/>
                </a:moveTo>
                <a:lnTo>
                  <a:pt x="219075" y="0"/>
                </a:lnTo>
                <a:lnTo>
                  <a:pt x="219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7388352" y="8336258"/>
            <a:ext cx="3310128" cy="98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sz="2833" spc="-5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Determines access and caching behavior</a:t>
            </a:r>
          </a:p>
        </p:txBody>
      </p:sp>
      <p:sp>
        <p:nvSpPr>
          <p:cNvPr id="37" name="Freeform 37"/>
          <p:cNvSpPr/>
          <p:nvPr/>
        </p:nvSpPr>
        <p:spPr>
          <a:xfrm>
            <a:off x="11753850" y="8143875"/>
            <a:ext cx="228600" cy="1285875"/>
          </a:xfrm>
          <a:custGeom>
            <a:avLst/>
            <a:gdLst/>
            <a:ahLst/>
            <a:cxnLst/>
            <a:rect l="l" t="t" r="r" b="b"/>
            <a:pathLst>
              <a:path w="228600" h="1285875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2929616" y="8336258"/>
            <a:ext cx="3511296" cy="98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sz="2833" spc="-5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Prevents cache pollution from MMIO regions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6656" y="806020"/>
            <a:ext cx="8613648" cy="207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 spc="-16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PMA/PMP </a:t>
            </a:r>
            <a:r>
              <a:rPr lang="en-US" sz="8008" b="1" spc="-160">
                <a:solidFill>
                  <a:srgbClr val="60C9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PARALLEL CHECKING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29600" y="6738109"/>
            <a:ext cx="731520" cy="25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1805" b="1" spc="-3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ATOMIC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8368" y="572153"/>
            <a:ext cx="8577072" cy="185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meds_sram_wrapper – The Abstraction Layer</a:t>
            </a:r>
          </a:p>
        </p:txBody>
      </p:sp>
      <p:sp>
        <p:nvSpPr>
          <p:cNvPr id="4" name="Freeform 4"/>
          <p:cNvSpPr/>
          <p:nvPr/>
        </p:nvSpPr>
        <p:spPr>
          <a:xfrm>
            <a:off x="6305550" y="2571750"/>
            <a:ext cx="6981825" cy="5143500"/>
          </a:xfrm>
          <a:custGeom>
            <a:avLst/>
            <a:gdLst/>
            <a:ahLst/>
            <a:cxnLst/>
            <a:rect l="l" t="t" r="r" b="b"/>
            <a:pathLst>
              <a:path w="6981825" h="5143500">
                <a:moveTo>
                  <a:pt x="0" y="0"/>
                </a:moveTo>
                <a:lnTo>
                  <a:pt x="6981825" y="0"/>
                </a:lnTo>
                <a:lnTo>
                  <a:pt x="69818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101584" y="2877505"/>
            <a:ext cx="3072384" cy="83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3"/>
              </a:lnSpc>
            </a:pPr>
            <a:r>
              <a:rPr lang="en-US" sz="293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meds_sram_wrapper</a:t>
            </a:r>
          </a:p>
          <a:p>
            <a:pPr algn="ctr">
              <a:lnSpc>
                <a:spcPts val="3233"/>
              </a:lnSpc>
            </a:pPr>
            <a:r>
              <a:rPr lang="en-US" sz="2939">
                <a:solidFill>
                  <a:srgbClr val="37C9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Abstraction Layer</a:t>
            </a:r>
          </a:p>
        </p:txBody>
      </p:sp>
      <p:sp>
        <p:nvSpPr>
          <p:cNvPr id="6" name="Freeform 6"/>
          <p:cNvSpPr/>
          <p:nvPr/>
        </p:nvSpPr>
        <p:spPr>
          <a:xfrm>
            <a:off x="7181850" y="4067175"/>
            <a:ext cx="3705225" cy="2581275"/>
          </a:xfrm>
          <a:custGeom>
            <a:avLst/>
            <a:gdLst/>
            <a:ahLst/>
            <a:cxnLst/>
            <a:rect l="l" t="t" r="r" b="b"/>
            <a:pathLst>
              <a:path w="3705225" h="2581275">
                <a:moveTo>
                  <a:pt x="0" y="0"/>
                </a:moveTo>
                <a:lnTo>
                  <a:pt x="3705225" y="0"/>
                </a:lnTo>
                <a:lnTo>
                  <a:pt x="37052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193024" y="4780738"/>
            <a:ext cx="1755648" cy="3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240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Memory Array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2944" y="5336856"/>
            <a:ext cx="2962656" cy="70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sz="2159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(Tags / Data / Register File</a:t>
            </a:r>
          </a:p>
          <a:p>
            <a:pPr algn="ctr">
              <a:lnSpc>
                <a:spcPts val="2807"/>
              </a:lnSpc>
            </a:pPr>
            <a:r>
              <a:rPr lang="en-US" sz="2159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/ TLB / FIFOs)</a:t>
            </a:r>
          </a:p>
        </p:txBody>
      </p:sp>
      <p:sp>
        <p:nvSpPr>
          <p:cNvPr id="9" name="Freeform 9"/>
          <p:cNvSpPr/>
          <p:nvPr/>
        </p:nvSpPr>
        <p:spPr>
          <a:xfrm>
            <a:off x="11315700" y="4067175"/>
            <a:ext cx="1533525" cy="2581275"/>
          </a:xfrm>
          <a:custGeom>
            <a:avLst/>
            <a:gdLst/>
            <a:ahLst/>
            <a:cxnLst/>
            <a:rect l="l" t="t" r="r" b="b"/>
            <a:pathLst>
              <a:path w="1533525" h="2581275">
                <a:moveTo>
                  <a:pt x="0" y="0"/>
                </a:moveTo>
                <a:lnTo>
                  <a:pt x="1533525" y="0"/>
                </a:lnTo>
                <a:lnTo>
                  <a:pt x="15335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649456" y="5045859"/>
            <a:ext cx="877824" cy="65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05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Output</a:t>
            </a:r>
          </a:p>
          <a:p>
            <a:pPr algn="ctr">
              <a:lnSpc>
                <a:spcPts val="2669"/>
              </a:lnSpc>
            </a:pPr>
            <a:r>
              <a:rPr lang="en-US" sz="205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Register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020925" y="2781300"/>
            <a:ext cx="2619375" cy="3438525"/>
          </a:xfrm>
          <a:custGeom>
            <a:avLst/>
            <a:gdLst/>
            <a:ahLst/>
            <a:cxnLst/>
            <a:rect l="l" t="t" r="r" b="b"/>
            <a:pathLst>
              <a:path w="2619375" h="3438525">
                <a:moveTo>
                  <a:pt x="0" y="0"/>
                </a:moveTo>
                <a:lnTo>
                  <a:pt x="2619375" y="0"/>
                </a:lnTo>
                <a:lnTo>
                  <a:pt x="2619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219700" y="3857625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219700" y="44958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340096" y="5187143"/>
            <a:ext cx="530352" cy="34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33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</a:t>
            </a:r>
          </a:p>
        </p:txBody>
      </p:sp>
      <p:sp>
        <p:nvSpPr>
          <p:cNvPr id="15" name="Freeform 15"/>
          <p:cNvSpPr/>
          <p:nvPr/>
        </p:nvSpPr>
        <p:spPr>
          <a:xfrm>
            <a:off x="5219700" y="535305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000625" y="6210300"/>
            <a:ext cx="1533525" cy="219075"/>
          </a:xfrm>
          <a:custGeom>
            <a:avLst/>
            <a:gdLst/>
            <a:ahLst/>
            <a:cxnLst/>
            <a:rect l="l" t="t" r="r" b="b"/>
            <a:pathLst>
              <a:path w="1533525" h="21907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058775" y="3209925"/>
            <a:ext cx="2181225" cy="219075"/>
          </a:xfrm>
          <a:custGeom>
            <a:avLst/>
            <a:gdLst/>
            <a:ahLst/>
            <a:cxnLst/>
            <a:rect l="l" t="t" r="r" b="b"/>
            <a:pathLst>
              <a:path w="2181225" h="21907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3770864" y="5171280"/>
            <a:ext cx="694944" cy="3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58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rdata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058775" y="5353050"/>
            <a:ext cx="1533525" cy="219075"/>
          </a:xfrm>
          <a:custGeom>
            <a:avLst/>
            <a:gdLst/>
            <a:ahLst/>
            <a:cxnLst/>
            <a:rect l="l" t="t" r="r" b="b"/>
            <a:pathLst>
              <a:path w="1533525" h="21907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972925" y="6429375"/>
            <a:ext cx="219075" cy="1285875"/>
          </a:xfrm>
          <a:custGeom>
            <a:avLst/>
            <a:gdLst/>
            <a:ahLst/>
            <a:cxnLst/>
            <a:rect l="l" t="t" r="r" b="b"/>
            <a:pathLst>
              <a:path w="219075" h="1285875">
                <a:moveTo>
                  <a:pt x="0" y="0"/>
                </a:moveTo>
                <a:lnTo>
                  <a:pt x="219075" y="0"/>
                </a:lnTo>
                <a:lnTo>
                  <a:pt x="219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2454128" y="6836621"/>
            <a:ext cx="1737360" cy="59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sz="2053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Registered Read</a:t>
            </a:r>
          </a:p>
          <a:p>
            <a:pPr algn="ctr">
              <a:lnSpc>
                <a:spcPts val="2361"/>
              </a:lnSpc>
            </a:pPr>
            <a:r>
              <a:rPr lang="en-US" sz="2053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(1 Cycle)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33850" y="8143875"/>
            <a:ext cx="10239375" cy="219075"/>
          </a:xfrm>
          <a:custGeom>
            <a:avLst/>
            <a:gdLst/>
            <a:ahLst/>
            <a:cxnLst/>
            <a:rect l="l" t="t" r="r" b="b"/>
            <a:pathLst>
              <a:path w="10239375" h="219075">
                <a:moveTo>
                  <a:pt x="0" y="0"/>
                </a:moveTo>
                <a:lnTo>
                  <a:pt x="10239375" y="0"/>
                </a:lnTo>
                <a:lnTo>
                  <a:pt x="1023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4133850" y="814387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524625" y="81438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9144000" y="7496175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753850" y="814387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4144625" y="81438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3257550" y="8572500"/>
            <a:ext cx="2409825" cy="1076325"/>
          </a:xfrm>
          <a:custGeom>
            <a:avLst/>
            <a:gdLst/>
            <a:ahLst/>
            <a:cxnLst/>
            <a:rect l="l" t="t" r="r" b="b"/>
            <a:pathLst>
              <a:path w="2409825" h="1076325">
                <a:moveTo>
                  <a:pt x="0" y="0"/>
                </a:moveTo>
                <a:lnTo>
                  <a:pt x="2409825" y="0"/>
                </a:lnTo>
                <a:lnTo>
                  <a:pt x="2409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5438775" y="85725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8048625" y="85725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595360" y="8911037"/>
            <a:ext cx="1517904" cy="34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33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Register File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668000" y="8572500"/>
            <a:ext cx="2400300" cy="1076325"/>
          </a:xfrm>
          <a:custGeom>
            <a:avLst/>
            <a:gdLst/>
            <a:ahLst/>
            <a:cxnLst/>
            <a:rect l="l" t="t" r="r" b="b"/>
            <a:pathLst>
              <a:path w="2400300" h="1076325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058775" y="8572500"/>
            <a:ext cx="2400300" cy="1076325"/>
          </a:xfrm>
          <a:custGeom>
            <a:avLst/>
            <a:gdLst/>
            <a:ahLst/>
            <a:cxnLst/>
            <a:rect l="l" t="t" r="r" b="b"/>
            <a:pathLst>
              <a:path w="2400300" h="1076325">
                <a:moveTo>
                  <a:pt x="0" y="0"/>
                </a:moveTo>
                <a:lnTo>
                  <a:pt x="2400300" y="0"/>
                </a:lnTo>
                <a:lnTo>
                  <a:pt x="2400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3953744" y="8910812"/>
            <a:ext cx="694944" cy="344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37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FIFOs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8368" y="3131870"/>
            <a:ext cx="3255264" cy="352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Mandatory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wrapper for all memory arrays</a:t>
            </a:r>
          </a:p>
          <a:p>
            <a:pPr algn="l">
              <a:lnSpc>
                <a:spcPts val="3130"/>
              </a:lnSpc>
            </a:pPr>
            <a:endParaRPr lang="en-US" sz="2407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l">
              <a:lnSpc>
                <a:spcPts val="3130"/>
              </a:lnSpc>
            </a:pPr>
            <a:r>
              <a:rPr lang="en-US" sz="2407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 direct memory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instantiations in core RTL</a:t>
            </a:r>
          </a:p>
          <a:p>
            <a:pPr algn="l">
              <a:lnSpc>
                <a:spcPts val="3130"/>
              </a:lnSpc>
            </a:pPr>
            <a:endParaRPr lang="en-US" sz="2407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l">
              <a:lnSpc>
                <a:spcPts val="3130"/>
              </a:lnSpc>
            </a:pPr>
            <a:r>
              <a:rPr lang="en-US" sz="2407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Strict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7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1-cycle registered</a:t>
            </a: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read outputs for timing closure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544800" y="3025885"/>
            <a:ext cx="1627632" cy="252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2230" b="1">
                <a:solidFill>
                  <a:srgbClr val="37C9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PARAMETERS</a:t>
            </a:r>
          </a:p>
          <a:p>
            <a:pPr algn="ctr">
              <a:lnSpc>
                <a:spcPts val="5130"/>
              </a:lnSpc>
            </a:pPr>
            <a:r>
              <a:rPr lang="en-US" sz="223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DATA_WIDTH</a:t>
            </a:r>
          </a:p>
          <a:p>
            <a:pPr algn="ctr">
              <a:lnSpc>
                <a:spcPts val="5130"/>
              </a:lnSpc>
            </a:pPr>
            <a:r>
              <a:rPr lang="en-US" sz="223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ADDR_WIDTH</a:t>
            </a:r>
          </a:p>
          <a:p>
            <a:pPr algn="ctr">
              <a:lnSpc>
                <a:spcPts val="5130"/>
              </a:lnSpc>
            </a:pPr>
            <a:r>
              <a:rPr lang="en-US" sz="223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DEPTH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096512" y="8925775"/>
            <a:ext cx="566928" cy="3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26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Tags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92240" y="8910812"/>
            <a:ext cx="548640" cy="344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37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67744" y="8935975"/>
            <a:ext cx="438912" cy="30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15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TLB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49823" y="3669119"/>
            <a:ext cx="538353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266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76672" y="4415618"/>
            <a:ext cx="61150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337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75504" y="5963119"/>
            <a:ext cx="694944" cy="3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2"/>
              </a:lnSpc>
            </a:pPr>
            <a:r>
              <a:rPr lang="en-US" sz="226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94944" y="882703"/>
            <a:ext cx="10607040" cy="182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698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WRAPPER IMPLEMENTATION - </a:t>
            </a:r>
            <a:r>
              <a:rPr lang="en-US" sz="6980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THREE MODES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3000375"/>
            <a:ext cx="5667375" cy="6858000"/>
          </a:xfrm>
          <a:custGeom>
            <a:avLst/>
            <a:gdLst/>
            <a:ahLst/>
            <a:cxnLst/>
            <a:rect l="l" t="t" r="r" b="b"/>
            <a:pathLst>
              <a:path w="5667375" h="6858000">
                <a:moveTo>
                  <a:pt x="0" y="0"/>
                </a:moveTo>
                <a:lnTo>
                  <a:pt x="5667375" y="0"/>
                </a:lnTo>
                <a:lnTo>
                  <a:pt x="56673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7700" y="3000375"/>
            <a:ext cx="5667375" cy="1285875"/>
          </a:xfrm>
          <a:custGeom>
            <a:avLst/>
            <a:gdLst/>
            <a:ahLst/>
            <a:cxnLst/>
            <a:rect l="l" t="t" r="r" b="b"/>
            <a:pathLst>
              <a:path w="5667375" h="1285875">
                <a:moveTo>
                  <a:pt x="0" y="0"/>
                </a:moveTo>
                <a:lnTo>
                  <a:pt x="5667375" y="0"/>
                </a:lnTo>
                <a:lnTo>
                  <a:pt x="5667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103120" y="3412173"/>
            <a:ext cx="2834640" cy="504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375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BEHAVIOURAL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7360" y="4314444"/>
            <a:ext cx="347472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SystemVerilog arrays for fast Verilator simulation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2171700" y="5781675"/>
            <a:ext cx="3276600" cy="3009900"/>
          </a:xfrm>
          <a:custGeom>
            <a:avLst/>
            <a:gdLst/>
            <a:ahLst/>
            <a:cxnLst/>
            <a:rect l="l" t="t" r="r" b="b"/>
            <a:pathLst>
              <a:path w="3276600" h="3009900">
                <a:moveTo>
                  <a:pt x="0" y="0"/>
                </a:moveTo>
                <a:lnTo>
                  <a:pt x="3276600" y="0"/>
                </a:lnTo>
                <a:lnTo>
                  <a:pt x="32766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88720" y="7026593"/>
            <a:ext cx="87782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 []</a:t>
            </a:r>
          </a:p>
        </p:txBody>
      </p:sp>
      <p:sp>
        <p:nvSpPr>
          <p:cNvPr id="10" name="Freeform 10"/>
          <p:cNvSpPr/>
          <p:nvPr/>
        </p:nvSpPr>
        <p:spPr>
          <a:xfrm>
            <a:off x="1952625" y="6638925"/>
            <a:ext cx="447675" cy="1724025"/>
          </a:xfrm>
          <a:custGeom>
            <a:avLst/>
            <a:gdLst/>
            <a:ahLst/>
            <a:cxnLst/>
            <a:rect l="l" t="t" r="r" b="b"/>
            <a:pathLst>
              <a:path w="447675" h="1724025">
                <a:moveTo>
                  <a:pt x="0" y="0"/>
                </a:moveTo>
                <a:lnTo>
                  <a:pt x="447675" y="0"/>
                </a:lnTo>
                <a:lnTo>
                  <a:pt x="447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305550" y="3000375"/>
            <a:ext cx="5457825" cy="6858000"/>
          </a:xfrm>
          <a:custGeom>
            <a:avLst/>
            <a:gdLst/>
            <a:ahLst/>
            <a:cxnLst/>
            <a:rect l="l" t="t" r="r" b="b"/>
            <a:pathLst>
              <a:path w="5457825" h="6858000">
                <a:moveTo>
                  <a:pt x="0" y="0"/>
                </a:moveTo>
                <a:lnTo>
                  <a:pt x="5457825" y="0"/>
                </a:lnTo>
                <a:lnTo>
                  <a:pt x="5457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305550" y="3000375"/>
            <a:ext cx="5457825" cy="1285875"/>
          </a:xfrm>
          <a:custGeom>
            <a:avLst/>
            <a:gdLst/>
            <a:ahLst/>
            <a:cxnLst/>
            <a:rect l="l" t="t" r="r" b="b"/>
            <a:pathLst>
              <a:path w="5457825" h="1285875">
                <a:moveTo>
                  <a:pt x="0" y="0"/>
                </a:moveTo>
                <a:lnTo>
                  <a:pt x="5457825" y="0"/>
                </a:lnTo>
                <a:lnTo>
                  <a:pt x="5457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503920" y="3394734"/>
            <a:ext cx="1261872" cy="53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3"/>
              </a:lnSpc>
            </a:pPr>
            <a:r>
              <a:rPr lang="en-US" sz="400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BRAM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05472" y="4295394"/>
            <a:ext cx="376732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9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Xilinx RAM36E1 primitive for KC705 FPGA</a:t>
            </a:r>
          </a:p>
        </p:txBody>
      </p:sp>
      <p:sp>
        <p:nvSpPr>
          <p:cNvPr id="15" name="Freeform 15"/>
          <p:cNvSpPr/>
          <p:nvPr/>
        </p:nvSpPr>
        <p:spPr>
          <a:xfrm>
            <a:off x="8048625" y="6000750"/>
            <a:ext cx="2190750" cy="2571750"/>
          </a:xfrm>
          <a:custGeom>
            <a:avLst/>
            <a:gdLst/>
            <a:ahLst/>
            <a:cxnLst/>
            <a:rect l="l" t="t" r="r" b="b"/>
            <a:pathLst>
              <a:path w="2190750" h="2571750">
                <a:moveTo>
                  <a:pt x="0" y="0"/>
                </a:moveTo>
                <a:lnTo>
                  <a:pt x="2190750" y="0"/>
                </a:lnTo>
                <a:lnTo>
                  <a:pt x="2190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485632" y="7031355"/>
            <a:ext cx="13898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4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RAMB36E1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4848" y="6161722"/>
            <a:ext cx="6949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</a:t>
            </a:r>
          </a:p>
        </p:txBody>
      </p:sp>
      <p:sp>
        <p:nvSpPr>
          <p:cNvPr id="18" name="Freeform 18"/>
          <p:cNvSpPr/>
          <p:nvPr/>
        </p:nvSpPr>
        <p:spPr>
          <a:xfrm>
            <a:off x="7620000" y="621030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400925" y="7067550"/>
            <a:ext cx="657225" cy="219075"/>
          </a:xfrm>
          <a:custGeom>
            <a:avLst/>
            <a:gdLst/>
            <a:ahLst/>
            <a:cxnLst/>
            <a:rect l="l" t="t" r="r" b="b"/>
            <a:pathLst>
              <a:path w="657225" h="21907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7040880" y="7798118"/>
            <a:ext cx="36576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</a:t>
            </a:r>
          </a:p>
        </p:txBody>
      </p:sp>
      <p:sp>
        <p:nvSpPr>
          <p:cNvPr id="21" name="Freeform 21"/>
          <p:cNvSpPr/>
          <p:nvPr/>
        </p:nvSpPr>
        <p:spPr>
          <a:xfrm>
            <a:off x="7400925" y="771525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0789920" y="6501193"/>
            <a:ext cx="6949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DOUT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229850" y="642937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881360" y="7529131"/>
            <a:ext cx="5120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DOA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229850" y="74961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1972925" y="3000375"/>
            <a:ext cx="5667375" cy="6858000"/>
          </a:xfrm>
          <a:custGeom>
            <a:avLst/>
            <a:gdLst/>
            <a:ahLst/>
            <a:cxnLst/>
            <a:rect l="l" t="t" r="r" b="b"/>
            <a:pathLst>
              <a:path w="5667375" h="6858000">
                <a:moveTo>
                  <a:pt x="0" y="0"/>
                </a:moveTo>
                <a:lnTo>
                  <a:pt x="5667375" y="0"/>
                </a:lnTo>
                <a:lnTo>
                  <a:pt x="56673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1972925" y="3000375"/>
            <a:ext cx="5667375" cy="1285875"/>
          </a:xfrm>
          <a:custGeom>
            <a:avLst/>
            <a:gdLst/>
            <a:ahLst/>
            <a:cxnLst/>
            <a:rect l="l" t="t" r="r" b="b"/>
            <a:pathLst>
              <a:path w="5667375" h="1285875">
                <a:moveTo>
                  <a:pt x="0" y="0"/>
                </a:moveTo>
                <a:lnTo>
                  <a:pt x="5667375" y="0"/>
                </a:lnTo>
                <a:lnTo>
                  <a:pt x="5667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4282928" y="3400397"/>
            <a:ext cx="987552" cy="52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2"/>
              </a:lnSpc>
            </a:pPr>
            <a:r>
              <a:rPr lang="en-US" sz="393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ASIC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72416" y="4314444"/>
            <a:ext cx="455371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Macro stub for future tape-out ensuring architectural portability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496925" y="6000750"/>
            <a:ext cx="2619375" cy="2571750"/>
          </a:xfrm>
          <a:custGeom>
            <a:avLst/>
            <a:gdLst/>
            <a:ahLst/>
            <a:cxnLst/>
            <a:rect l="l" t="t" r="r" b="b"/>
            <a:pathLst>
              <a:path w="2619375" h="2571750">
                <a:moveTo>
                  <a:pt x="0" y="0"/>
                </a:moveTo>
                <a:lnTo>
                  <a:pt x="2619375" y="0"/>
                </a:lnTo>
                <a:lnTo>
                  <a:pt x="2619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3917168" y="7036118"/>
            <a:ext cx="179222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SRAM_MACRO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07824" y="6161722"/>
            <a:ext cx="6949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ADDR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058775" y="621030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839700" y="7067550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839700" y="7715250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6660368" y="6501193"/>
            <a:ext cx="6949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DOUT</a:t>
            </a:r>
          </a:p>
        </p:txBody>
      </p:sp>
      <p:sp>
        <p:nvSpPr>
          <p:cNvPr id="37" name="Freeform 37"/>
          <p:cNvSpPr/>
          <p:nvPr/>
        </p:nvSpPr>
        <p:spPr>
          <a:xfrm>
            <a:off x="15887700" y="642937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6751808" y="7529131"/>
            <a:ext cx="5120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DOA</a:t>
            </a:r>
          </a:p>
        </p:txBody>
      </p:sp>
      <p:sp>
        <p:nvSpPr>
          <p:cNvPr id="39" name="Freeform 39"/>
          <p:cNvSpPr/>
          <p:nvPr/>
        </p:nvSpPr>
        <p:spPr>
          <a:xfrm>
            <a:off x="15887700" y="7496175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6949440" y="6960870"/>
            <a:ext cx="47548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585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72416" y="6960870"/>
            <a:ext cx="47548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585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545568" y="7798118"/>
            <a:ext cx="36576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>
                <a:solidFill>
                  <a:srgbClr val="38B6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13232" y="738809"/>
            <a:ext cx="9564624" cy="11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186" b="1" spc="-16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KEY DESIGN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" y="1790229"/>
            <a:ext cx="8049768" cy="1047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67"/>
              </a:lnSpc>
            </a:pPr>
            <a:r>
              <a:rPr lang="en-US" sz="7867" b="1" spc="-157" dirty="0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&amp; RATIONALE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3000375"/>
            <a:ext cx="2400300" cy="2143125"/>
          </a:xfrm>
          <a:custGeom>
            <a:avLst/>
            <a:gdLst/>
            <a:ahLst/>
            <a:cxnLst/>
            <a:rect l="l" t="t" r="r" b="b"/>
            <a:pathLst>
              <a:path w="2400300" h="2143125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34034" y="3678263"/>
            <a:ext cx="1627632" cy="1270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23"/>
              </a:lnSpc>
            </a:pPr>
            <a:r>
              <a:rPr lang="en-US" sz="9923" b="1" spc="-198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19856" y="3979735"/>
            <a:ext cx="3090672" cy="342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Blocking over non-blocking</a:t>
            </a:r>
          </a:p>
        </p:txBody>
      </p:sp>
      <p:sp>
        <p:nvSpPr>
          <p:cNvPr id="8" name="Freeform 8"/>
          <p:cNvSpPr/>
          <p:nvPr/>
        </p:nvSpPr>
        <p:spPr>
          <a:xfrm>
            <a:off x="8267700" y="3209925"/>
            <a:ext cx="228600" cy="1724025"/>
          </a:xfrm>
          <a:custGeom>
            <a:avLst/>
            <a:gdLst/>
            <a:ahLst/>
            <a:cxnLst/>
            <a:rect l="l" t="t" r="r" b="b"/>
            <a:pathLst>
              <a:path w="228600" h="1724025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47700" y="5143500"/>
            <a:ext cx="2400300" cy="2362200"/>
          </a:xfrm>
          <a:custGeom>
            <a:avLst/>
            <a:gdLst/>
            <a:ahLst/>
            <a:cxnLst/>
            <a:rect l="l" t="t" r="r" b="b"/>
            <a:pathLst>
              <a:path w="2400300" h="23622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15568" y="5796034"/>
            <a:ext cx="1335024" cy="144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9"/>
              </a:lnSpc>
            </a:pPr>
            <a:r>
              <a:rPr lang="en-US" sz="10809" b="1" spc="-21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19856" y="5698617"/>
            <a:ext cx="4407408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215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Software coherency over hardware</a:t>
            </a:r>
          </a:p>
        </p:txBody>
      </p:sp>
      <p:sp>
        <p:nvSpPr>
          <p:cNvPr id="12" name="Freeform 12"/>
          <p:cNvSpPr/>
          <p:nvPr/>
        </p:nvSpPr>
        <p:spPr>
          <a:xfrm>
            <a:off x="8267700" y="55721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47700" y="7496175"/>
            <a:ext cx="2400300" cy="2152650"/>
          </a:xfrm>
          <a:custGeom>
            <a:avLst/>
            <a:gdLst/>
            <a:ahLst/>
            <a:cxnLst/>
            <a:rect l="l" t="t" r="r" b="b"/>
            <a:pathLst>
              <a:path w="2400300" h="2152650">
                <a:moveTo>
                  <a:pt x="0" y="0"/>
                </a:moveTo>
                <a:lnTo>
                  <a:pt x="2400300" y="0"/>
                </a:lnTo>
                <a:lnTo>
                  <a:pt x="2400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15568" y="8007739"/>
            <a:ext cx="1335024" cy="144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9"/>
              </a:lnSpc>
            </a:pPr>
            <a:r>
              <a:rPr lang="en-US" sz="10809" b="1" spc="-21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19856" y="7961757"/>
            <a:ext cx="3584448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215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Unified wrapper architecture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67700" y="7715250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034272" y="3659886"/>
            <a:ext cx="651052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Chosen for v1 stability and predictable timing.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34272" y="4230433"/>
            <a:ext cx="416966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833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Non-blocking deferred to v2.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34272" y="5835205"/>
            <a:ext cx="5833872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868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Zicbom</a:t>
            </a:r>
            <a:r>
              <a:rPr lang="en-US" sz="2868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software contract simplifies v1.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34272" y="6400991"/>
            <a:ext cx="444398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868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Hardware coherency deferred.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34272" y="8098345"/>
            <a:ext cx="563270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83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Ensures ASIC-clean RTL and portability.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34272" y="8659368"/>
            <a:ext cx="658368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Avoids FPGA-specific primitives in core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96112" y="717765"/>
            <a:ext cx="13002768" cy="10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754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DELIVERABLES &amp; ACCEPTANCE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6112" y="1725891"/>
            <a:ext cx="4754880" cy="100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7548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(12 WEEKS)</a:t>
            </a:r>
          </a:p>
        </p:txBody>
      </p:sp>
      <p:sp>
        <p:nvSpPr>
          <p:cNvPr id="5" name="Freeform 5"/>
          <p:cNvSpPr/>
          <p:nvPr/>
        </p:nvSpPr>
        <p:spPr>
          <a:xfrm>
            <a:off x="866775" y="2571750"/>
            <a:ext cx="16554450" cy="1933575"/>
          </a:xfrm>
          <a:custGeom>
            <a:avLst/>
            <a:gdLst/>
            <a:ahLst/>
            <a:cxnLst/>
            <a:rect l="l" t="t" r="r" b="b"/>
            <a:pathLst>
              <a:path w="16554450" h="1933575">
                <a:moveTo>
                  <a:pt x="0" y="0"/>
                </a:moveTo>
                <a:lnTo>
                  <a:pt x="16554450" y="0"/>
                </a:lnTo>
                <a:lnTo>
                  <a:pt x="16554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952625" y="300037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010912" y="2982213"/>
            <a:ext cx="3273552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RTL DELIVERABLES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10912" y="3388614"/>
            <a:ext cx="585216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I$ and D$ FSMs in rtl/cache/cache/ meds_sram_wrapper.sv inrtl/common/</a:t>
            </a:r>
          </a:p>
        </p:txBody>
      </p:sp>
      <p:sp>
        <p:nvSpPr>
          <p:cNvPr id="9" name="Freeform 9"/>
          <p:cNvSpPr/>
          <p:nvPr/>
        </p:nvSpPr>
        <p:spPr>
          <a:xfrm>
            <a:off x="866775" y="4286250"/>
            <a:ext cx="16554450" cy="2143125"/>
          </a:xfrm>
          <a:custGeom>
            <a:avLst/>
            <a:gdLst/>
            <a:ahLst/>
            <a:cxnLst/>
            <a:rect l="l" t="t" r="r" b="b"/>
            <a:pathLst>
              <a:path w="16554450" h="2143125">
                <a:moveTo>
                  <a:pt x="0" y="0"/>
                </a:moveTo>
                <a:lnTo>
                  <a:pt x="16554450" y="0"/>
                </a:lnTo>
                <a:lnTo>
                  <a:pt x="16554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952625" y="471487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010912" y="4844160"/>
            <a:ext cx="5010912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VERIFICATION </a:t>
            </a:r>
            <a:r>
              <a:rPr lang="en-US" sz="297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DELIVERABLES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10912" y="5250561"/>
            <a:ext cx="539496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testbenches covering hit, miss, and eviction scenarios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6775" y="6210300"/>
            <a:ext cx="16554450" cy="1933575"/>
          </a:xfrm>
          <a:custGeom>
            <a:avLst/>
            <a:gdLst/>
            <a:ahLst/>
            <a:cxnLst/>
            <a:rect l="l" t="t" r="r" b="b"/>
            <a:pathLst>
              <a:path w="16554450" h="1933575">
                <a:moveTo>
                  <a:pt x="0" y="0"/>
                </a:moveTo>
                <a:lnTo>
                  <a:pt x="16554450" y="0"/>
                </a:lnTo>
                <a:lnTo>
                  <a:pt x="16554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171700" y="663892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010912" y="6634098"/>
            <a:ext cx="5742432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DOCUMENTATION </a:t>
            </a:r>
            <a:r>
              <a:rPr lang="en-US" sz="297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DELIVERABLES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10912" y="7040499"/>
            <a:ext cx="486460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Zicbom Software Contract note delivered to BSP team</a:t>
            </a:r>
          </a:p>
        </p:txBody>
      </p:sp>
      <p:sp>
        <p:nvSpPr>
          <p:cNvPr id="17" name="Freeform 17"/>
          <p:cNvSpPr/>
          <p:nvPr/>
        </p:nvSpPr>
        <p:spPr>
          <a:xfrm>
            <a:off x="866775" y="7924800"/>
            <a:ext cx="16554450" cy="1933575"/>
          </a:xfrm>
          <a:custGeom>
            <a:avLst/>
            <a:gdLst/>
            <a:ahLst/>
            <a:cxnLst/>
            <a:rect l="l" t="t" r="r" b="b"/>
            <a:pathLst>
              <a:path w="16554450" h="1933575">
                <a:moveTo>
                  <a:pt x="0" y="0"/>
                </a:moveTo>
                <a:lnTo>
                  <a:pt x="16554450" y="0"/>
                </a:lnTo>
                <a:lnTo>
                  <a:pt x="16554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952625" y="835342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010912" y="8393175"/>
            <a:ext cx="4279392" cy="39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1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METRICS </a:t>
            </a:r>
            <a:r>
              <a:rPr lang="en-US" sz="297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DELIVERABLES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0912" y="8799576"/>
            <a:ext cx="497433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Baseline hit-rate measurements published for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625" y="3857625"/>
            <a:ext cx="12420600" cy="428625"/>
          </a:xfrm>
          <a:custGeom>
            <a:avLst/>
            <a:gdLst/>
            <a:ahLst/>
            <a:cxnLst/>
            <a:rect l="l" t="t" r="r" b="b"/>
            <a:pathLst>
              <a:path w="12420600" h="428625">
                <a:moveTo>
                  <a:pt x="0" y="0"/>
                </a:moveTo>
                <a:lnTo>
                  <a:pt x="12420600" y="0"/>
                </a:lnTo>
                <a:lnTo>
                  <a:pt x="12420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85850" y="38576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04925" y="4286250"/>
            <a:ext cx="219075" cy="1076325"/>
          </a:xfrm>
          <a:custGeom>
            <a:avLst/>
            <a:gdLst/>
            <a:ahLst/>
            <a:cxnLst/>
            <a:rect l="l" t="t" r="r" b="b"/>
            <a:pathLst>
              <a:path w="219075" h="107632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09550" y="5143500"/>
            <a:ext cx="2628900" cy="3219450"/>
          </a:xfrm>
          <a:custGeom>
            <a:avLst/>
            <a:gdLst/>
            <a:ahLst/>
            <a:cxnLst/>
            <a:rect l="l" t="t" r="r" b="b"/>
            <a:pathLst>
              <a:path w="2628900" h="3219450">
                <a:moveTo>
                  <a:pt x="0" y="0"/>
                </a:moveTo>
                <a:lnTo>
                  <a:pt x="2628900" y="0"/>
                </a:lnTo>
                <a:lnTo>
                  <a:pt x="26289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78992" y="5858763"/>
            <a:ext cx="877824" cy="44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3365" b="1" spc="-67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W1-2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6474279"/>
            <a:ext cx="1876044" cy="1320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691" b="1" spc="-53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Spec Review &amp; </a:t>
            </a:r>
            <a:r>
              <a:rPr lang="en-US" sz="2691" b="1" spc="-53" dirty="0" err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Zicbom</a:t>
            </a:r>
            <a:r>
              <a:rPr lang="en-US" sz="2691" b="1" spc="-53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Note</a:t>
            </a:r>
          </a:p>
        </p:txBody>
      </p:sp>
      <p:sp>
        <p:nvSpPr>
          <p:cNvPr id="9" name="Freeform 9"/>
          <p:cNvSpPr/>
          <p:nvPr/>
        </p:nvSpPr>
        <p:spPr>
          <a:xfrm>
            <a:off x="3695700" y="38576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914775" y="428625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828925" y="5143500"/>
            <a:ext cx="2400300" cy="3219450"/>
          </a:xfrm>
          <a:custGeom>
            <a:avLst/>
            <a:gdLst/>
            <a:ahLst/>
            <a:cxnLst/>
            <a:rect l="l" t="t" r="r" b="b"/>
            <a:pathLst>
              <a:path w="2400300" h="321945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547872" y="5858763"/>
            <a:ext cx="877824" cy="44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3365" b="1" spc="-67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W3-4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90672" y="6510803"/>
            <a:ext cx="1883664" cy="80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6"/>
              </a:lnSpc>
            </a:pPr>
            <a:r>
              <a:rPr lang="en-US" sz="2443" b="1" spc="-4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SRAMWrapper Implementation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96000" y="38576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305550" y="428625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219700" y="5143500"/>
            <a:ext cx="2619375" cy="3219450"/>
          </a:xfrm>
          <a:custGeom>
            <a:avLst/>
            <a:gdLst/>
            <a:ahLst/>
            <a:cxnLst/>
            <a:rect l="l" t="t" r="r" b="b"/>
            <a:pathLst>
              <a:path w="2619375" h="3219450">
                <a:moveTo>
                  <a:pt x="0" y="0"/>
                </a:moveTo>
                <a:lnTo>
                  <a:pt x="2619375" y="0"/>
                </a:lnTo>
                <a:lnTo>
                  <a:pt x="2619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053328" y="5858763"/>
            <a:ext cx="877824" cy="44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3365" b="1" spc="-67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W5-7</a:t>
            </a:r>
          </a:p>
        </p:txBody>
      </p:sp>
      <p:sp>
        <p:nvSpPr>
          <p:cNvPr id="18" name="Freeform 18"/>
          <p:cNvSpPr/>
          <p:nvPr/>
        </p:nvSpPr>
        <p:spPr>
          <a:xfrm>
            <a:off x="8705850" y="38576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924925" y="4286250"/>
            <a:ext cx="219075" cy="1076325"/>
          </a:xfrm>
          <a:custGeom>
            <a:avLst/>
            <a:gdLst/>
            <a:ahLst/>
            <a:cxnLst/>
            <a:rect l="l" t="t" r="r" b="b"/>
            <a:pathLst>
              <a:path w="219075" h="107632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829550" y="5143500"/>
            <a:ext cx="2409825" cy="3219450"/>
          </a:xfrm>
          <a:custGeom>
            <a:avLst/>
            <a:gdLst/>
            <a:ahLst/>
            <a:cxnLst/>
            <a:rect l="l" t="t" r="r" b="b"/>
            <a:pathLst>
              <a:path w="2409825" h="3219450">
                <a:moveTo>
                  <a:pt x="0" y="0"/>
                </a:moveTo>
                <a:lnTo>
                  <a:pt x="2409825" y="0"/>
                </a:lnTo>
                <a:lnTo>
                  <a:pt x="2409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449056" y="5849689"/>
            <a:ext cx="1078992" cy="456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9"/>
              </a:lnSpc>
            </a:pPr>
            <a:r>
              <a:rPr lang="en-US" sz="3329" b="1" spc="-66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W8-10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74736" y="6492429"/>
            <a:ext cx="1664208" cy="84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549" b="1" spc="-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Cache &amp; Write Buffer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096625" y="38576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1315700" y="428625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229850" y="5143500"/>
            <a:ext cx="2400300" cy="3219450"/>
          </a:xfrm>
          <a:custGeom>
            <a:avLst/>
            <a:gdLst/>
            <a:ahLst/>
            <a:cxnLst/>
            <a:rect l="l" t="t" r="r" b="b"/>
            <a:pathLst>
              <a:path w="2400300" h="321945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844784" y="5861465"/>
            <a:ext cx="1207008" cy="432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3152" b="1" spc="-63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W11-12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52176" y="6483354"/>
            <a:ext cx="1847088" cy="128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620" b="1" spc="-52" dirty="0" err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Zicbom</a:t>
            </a:r>
            <a:r>
              <a:rPr lang="en-US" sz="2620" b="1" spc="-52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Logic &amp; Testbenches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13058775" y="1714500"/>
            <a:ext cx="4800600" cy="6858000"/>
          </a:xfrm>
          <a:custGeom>
            <a:avLst/>
            <a:gdLst/>
            <a:ahLst/>
            <a:cxnLst/>
            <a:rect l="l" t="t" r="r" b="b"/>
            <a:pathLst>
              <a:path w="4800600" h="6858000">
                <a:moveTo>
                  <a:pt x="0" y="0"/>
                </a:moveTo>
                <a:lnTo>
                  <a:pt x="4800600" y="0"/>
                </a:lnTo>
                <a:lnTo>
                  <a:pt x="48006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3752576" y="2559199"/>
            <a:ext cx="3438144" cy="4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223" b="1" spc="-6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DEFINITION OF DONE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716000" y="3209925"/>
            <a:ext cx="3486150" cy="219075"/>
          </a:xfrm>
          <a:custGeom>
            <a:avLst/>
            <a:gdLst/>
            <a:ahLst/>
            <a:cxnLst/>
            <a:rect l="l" t="t" r="r" b="b"/>
            <a:pathLst>
              <a:path w="3486150" h="219075">
                <a:moveTo>
                  <a:pt x="0" y="0"/>
                </a:moveTo>
                <a:lnTo>
                  <a:pt x="3486150" y="0"/>
                </a:lnTo>
                <a:lnTo>
                  <a:pt x="3486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3496925" y="3638550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4410944" y="3900488"/>
            <a:ext cx="234086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spc="-5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inferred latches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496925" y="49244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4410944" y="4908042"/>
            <a:ext cx="292608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CBO semantics verified against DMA testbench</a:t>
            </a:r>
          </a:p>
        </p:txBody>
      </p:sp>
      <p:sp>
        <p:nvSpPr>
          <p:cNvPr id="35" name="Freeform 35"/>
          <p:cNvSpPr/>
          <p:nvPr/>
        </p:nvSpPr>
        <p:spPr>
          <a:xfrm>
            <a:off x="13496925" y="621030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4410944" y="6327457"/>
            <a:ext cx="235915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Hit rates published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496925" y="72866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4410944" y="7428167"/>
            <a:ext cx="148132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 lint clean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3504" y="818384"/>
            <a:ext cx="8010144" cy="202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725" b="1" spc="-15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MILESTONES &amp; </a:t>
            </a:r>
            <a:r>
              <a:rPr lang="en-US" sz="7725" b="1" spc="-154">
                <a:solidFill>
                  <a:srgbClr val="38B6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DEFINITION OF DONE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97296" y="6474279"/>
            <a:ext cx="1444752" cy="88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691" b="1" spc="-5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Instruction 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667</Words>
  <Application>Microsoft Office PowerPoint</Application>
  <PresentationFormat>Custom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</vt:lpstr>
      <vt:lpstr>Arial</vt:lpstr>
      <vt:lpstr>Roboto Condensed Bold</vt:lpstr>
      <vt:lpstr>Roboto Bold</vt:lpstr>
      <vt:lpstr>Roboto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Muhammad Usman</dc:title>
  <cp:lastModifiedBy>Muhammad Usman</cp:lastModifiedBy>
  <cp:revision>8</cp:revision>
  <dcterms:created xsi:type="dcterms:W3CDTF">2006-08-16T00:00:00Z</dcterms:created>
  <dcterms:modified xsi:type="dcterms:W3CDTF">2026-08-20T05:16:44Z</dcterms:modified>
  <dc:identifier>DAHStzaDP2A</dc:identifier>
</cp:coreProperties>
</file>