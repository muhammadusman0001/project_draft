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uSpXaXcviivY5Fi9KPME1o7SM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583680" y="6863"/>
            <a:ext cx="2560200" cy="5143500"/>
          </a:xfrm>
          <a:prstGeom prst="rect">
            <a:avLst/>
          </a:prstGeom>
          <a:solidFill>
            <a:srgbClr val="1522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36576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998B"/>
                </a:solidFill>
                <a:latin typeface="Consolas"/>
                <a:ea typeface="Consolas"/>
                <a:cs typeface="Consolas"/>
                <a:sym typeface="Consolas"/>
              </a:rPr>
              <a:t>MEDS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57200" y="960120"/>
            <a:ext cx="5852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All Hands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August 2026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57200" y="2788920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SERC &amp; USTP  ·  MEDS-S1 Platform SoC  ·  Your Next Project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57200" y="3401568"/>
            <a:ext cx="5852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UET Lahore  ·  Department of Electrical Engineering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457200" y="3913632"/>
            <a:ext cx="100584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57200" y="406908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Graduate RAs  ·  Mentors  ·  Mentees — everyone in one project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812280" y="8686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Starting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This Fall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812280" y="164592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MEDS-S1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812280" y="2148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Platform SoC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6812280" y="2560320"/>
            <a:ext cx="640080" cy="3657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812280" y="272491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22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7269480" y="27614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work packages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6812280" y="3055811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269480" y="3049524"/>
            <a:ext cx="1645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attachment interfaces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6812280" y="3362706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7269480" y="3347847"/>
            <a:ext cx="1645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shared repository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ee.uet.edu.pk/meds/   ·   Maktab-e-Digital Systems   ·   Established 2023</a:t>
            </a:r>
            <a:endParaRPr/>
          </a:p>
        </p:txBody>
      </p:sp>
      <p:pic>
        <p:nvPicPr>
          <p:cNvPr descr="logo_uet.png" id="104" name="Google Shape;10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5783" y="100584"/>
            <a:ext cx="813816" cy="813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meds.png"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100584"/>
            <a:ext cx="813816" cy="813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Today's Agenda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320040" y="822960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320040" y="1051560"/>
            <a:ext cx="274320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320040" y="1051560"/>
            <a:ext cx="274320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57200" y="1234439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457200" y="1581912"/>
            <a:ext cx="246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SERC Program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457200" y="1911095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Funded seats, fee waivers, MS stipends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3200400" y="1051560"/>
            <a:ext cx="274320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200400" y="1051560"/>
            <a:ext cx="274320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3337560" y="1234439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3337560" y="158191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USTP Training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337560" y="1911095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PSEB / NUST upskilling cohorts at UET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6080759" y="1051560"/>
            <a:ext cx="274320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080759" y="1051560"/>
            <a:ext cx="2743200" cy="640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217920" y="1234439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217920" y="1581912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MEDS-S1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217920" y="1911095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Why we are building a platform, not a core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320040" y="2532888"/>
            <a:ext cx="274320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20040" y="2532888"/>
            <a:ext cx="2743200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457200" y="271576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7B39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457200" y="306324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The Block Diagram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457200" y="339242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 walk through every component</a:t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3200400" y="2532888"/>
            <a:ext cx="274320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3200400" y="2532888"/>
            <a:ext cx="274320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3337560" y="271576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C653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3337560" y="306324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Who Owns What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3337560" y="339242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RAs, mentors and mentees on one project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080759" y="2532888"/>
            <a:ext cx="274320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6080759" y="2532888"/>
            <a:ext cx="2743200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6217920" y="271576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217920" y="306324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Your Preferences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6217920" y="339242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What we need from you before Thursday</a:t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320040" y="4041648"/>
            <a:ext cx="85039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320040" y="4041648"/>
            <a:ext cx="8503920" cy="640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502920" y="42245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One message for today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502920" y="446227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MEDS-S1 is a MEDS project. RAs, mentors and mentees all build it, and all own 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/>
        </p:nvSpPr>
        <p:spPr>
          <a:xfrm>
            <a:off x="5029200" y="-27432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0" u="none" cap="none" strike="noStrike">
                <a:solidFill>
                  <a:srgbClr val="1B3052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SERC &amp; USTP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548640" y="292608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New national funding for EE UET — and what it pays for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548640" y="2788920"/>
            <a:ext cx="100584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SERC — Semiconductor Education &amp; Research Cluster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Funded through the Pakistan Software Export Board (PSEB), Ministry of IT &amp; Telecom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20040" y="1143000"/>
            <a:ext cx="416052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20040" y="1143000"/>
            <a:ext cx="416052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502920" y="1325880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What it is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502920" y="1700784"/>
            <a:ext cx="3794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A national cluster building semiconductor education and research capacity in Pakistan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Runs under the INSPIRE banner — Initiative to Nurture Semiconductor Professionals for Industry, Research &amp; Education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Delivers IC design teaching on licensed EDA tools, specification through to tapeout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663440" y="1143000"/>
            <a:ext cx="4160520" cy="2148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663440" y="1143000"/>
            <a:ext cx="416052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4846320" y="1325880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07B39"/>
                </a:solidFill>
                <a:latin typeface="Arial Black"/>
                <a:ea typeface="Arial Black"/>
                <a:cs typeface="Arial Black"/>
                <a:sym typeface="Arial Black"/>
              </a:rPr>
              <a:t>What EE UET has won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4846320" y="1700784"/>
            <a:ext cx="3794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Two funded programmes — an undergraduate IC Design Programme and MSc EE with a specialisation in Integrated Circuit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Licensed EDA tool access for teaching and research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Both begin in the Fall 2026 semester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320040" y="3429000"/>
            <a:ext cx="850392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320040" y="3429000"/>
            <a:ext cx="8503920" cy="640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502920" y="361188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Why this matters to this room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502920" y="3913632"/>
            <a:ext cx="8138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For the first time, staying at UET for your MS is funded rather than self-financed, and final-year IC design coursework costs you </a:t>
            </a:r>
            <a:r>
              <a:rPr lang="en-US" sz="1050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next to </a:t>
            </a:r>
            <a:r>
              <a:rPr b="0" i="0" lang="en-US" sz="10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nothing. The lab work you are about to start on MEDS-S1 and the coursework SERC pays for are the same subject — you can now do both at once, on the same campus.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SERC — What You Get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Tuition and stipend support, tied to enrolment in the designated IC design courses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65760" y="1143000"/>
            <a:ext cx="4114800" cy="2331720"/>
          </a:xfrm>
          <a:prstGeom prst="rect">
            <a:avLst/>
          </a:prstGeom>
          <a:solidFill>
            <a:srgbClr val="152236"/>
          </a:solidFill>
          <a:ln cap="flat" cmpd="sng" w="1905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65760" y="1143000"/>
            <a:ext cx="411480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548640" y="1325880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FINAL YEAR — UNDERGRADUATE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548640" y="1609344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Full Tuition Fee Waiver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548640" y="2066543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IC Design Programme  ·  EE Department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548640" y="2377440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Tuition covered through PSEB sponsorship*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IC design training on licensed EDA tools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Schematic / RTL-to-silicon experience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For students enrolled in the designated courses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4663440" y="1143000"/>
            <a:ext cx="4114800" cy="2331720"/>
          </a:xfrm>
          <a:prstGeom prst="rect">
            <a:avLst/>
          </a:prstGeom>
          <a:solidFill>
            <a:srgbClr val="152236"/>
          </a:solidFill>
          <a:ln cap="flat" cmpd="sng" w="1905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663440" y="1143000"/>
            <a:ext cx="411480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4846320" y="1325880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MS — POSTGRADUATE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4846320" y="1609344"/>
            <a:ext cx="37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PKR upto 50,000/month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4846320" y="2066543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plus tuition covered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4846320" y="2377440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MSc Electrical Engineering (Evening), Main Campus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Specialisation in Integrated Circuit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Stipend and tuition through PSEB sponsorship*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•  Curriculum runs specification through to tapeout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152236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65760" y="3611880"/>
            <a:ext cx="841248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548640" y="37673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KEY DATES — MSc ADMISSIONS — THIS IS URGENT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548640" y="4041648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Applications close  13 August 2026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4846320" y="404164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Admission test  17 August 2026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457200" y="4590288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Undergraduate IC Design Programme dates follow the EE Department's course-registration schedule — confirm with the department.</a:t>
            </a:r>
            <a:b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Queries: mislam@uet.edu.pk  ·  +92-42-99029147          *Terms and conditions apply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USTP — Upskilling Training Programme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7CC1"/>
                </a:solidFill>
                <a:latin typeface="Calibri"/>
                <a:ea typeface="Calibri"/>
                <a:cs typeface="Calibri"/>
                <a:sym typeface="Calibri"/>
              </a:rPr>
              <a:t>National Semiconductor HRD Programme (NSHRDP) Phase-I  ·  Central Region Punjab  ·  PSEB-funded, NUST-led consortium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20040" y="1143000"/>
            <a:ext cx="20116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20040" y="1143000"/>
            <a:ext cx="201168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457200" y="129844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457200" y="177393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cohorts at UET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45720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of five across the consortium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2468880" y="1143000"/>
            <a:ext cx="20116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2468880" y="1143000"/>
            <a:ext cx="201168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2606040" y="129844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80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2606040" y="177393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trainees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260604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up to 40 per cohort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617720" y="1143000"/>
            <a:ext cx="20116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617720" y="1143000"/>
            <a:ext cx="201168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4754880" y="129844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500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4754880" y="177393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training hours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475488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per trainee, maximum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766560" y="1143000"/>
            <a:ext cx="20116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766560" y="1143000"/>
            <a:ext cx="201168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6903720" y="129844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Rs 0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6903720" y="177393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charged to trainees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690372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no fee, no deposit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320040" y="2514600"/>
            <a:ext cx="416052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20040" y="2514600"/>
            <a:ext cx="4160520" cy="640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502920" y="267919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How it is structured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502920" y="2980944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NUST leads; UET Lahore delivers two cohorts, IUB one, NUST two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Subject is IC chip design and verification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Trainees are shortlisted and approved by PSEB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663440" y="2514600"/>
            <a:ext cx="416052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663440" y="2514600"/>
            <a:ext cx="416052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4846320" y="267919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What a trainee gets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4846320" y="2980944"/>
            <a:ext cx="3794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Full curriculum, labs, assessments and a capstone project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Final examination and viva, plus placement assistance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Requires at least 80% verified attendance to complete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320040" y="4096512"/>
            <a:ext cx="85039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20040" y="4096512"/>
            <a:ext cx="8503920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502920" y="42428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07B39"/>
                </a:solidFill>
                <a:latin typeface="Arial Black"/>
                <a:ea typeface="Arial Black"/>
                <a:cs typeface="Arial Black"/>
                <a:sym typeface="Arial Black"/>
              </a:rPr>
              <a:t>TIMELINE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1600200" y="4233672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Training starts in the Fall semester. Exact dates are not confirmed yet — they follow PSEB and NUST sign-off. We will announce as soon as we have them.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/>
        </p:nvSpPr>
        <p:spPr>
          <a:xfrm>
            <a:off x="5029200" y="-27432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0" u="none" cap="none" strike="noStrike">
                <a:solidFill>
                  <a:srgbClr val="1B3052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MEDS-S1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548640" y="292608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The Platform SoC we are all going to build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548640" y="2788920"/>
            <a:ext cx="100584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Training Is Ending — Now You Build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Every mentee finishes with a training completion project. This year it is not a standalone exercise.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20040" y="1143000"/>
            <a:ext cx="2743200" cy="187451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484632" y="13258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Until now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84632" y="1682496"/>
            <a:ext cx="457200" cy="2743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484632" y="1810512"/>
            <a:ext cx="24141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Training completion projects were standalone. Each one was real work, — and each one ended at the demo. Very little carried into the next cohort.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3200400" y="1143000"/>
            <a:ext cx="2743200" cy="187451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3364992" y="13258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This year</a:t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364992" y="1682496"/>
            <a:ext cx="457200" cy="27432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3364992" y="1810512"/>
            <a:ext cx="2414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One project: MEDS-S1. Graduate RAs, mentors and mentees all commit to the same repository, against the same specs, through the same CI.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080759" y="1143000"/>
            <a:ext cx="2743200" cy="187451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080759" y="1143000"/>
            <a:ext cx="2743200" cy="640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6245351" y="1325880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Why it changes things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6245351" y="1682496"/>
            <a:ext cx="457200" cy="2743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6245351" y="1810512"/>
            <a:ext cx="2414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Your component becomes part of a platform that MS students and next year's final-year projects build on. It is used, not shelved.</a:t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320040" y="3154680"/>
            <a:ext cx="850392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20040" y="3154680"/>
            <a:ext cx="850392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502920" y="3310128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What this means in practice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502920" y="356616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Mentees take small, bounded sub-components. Mentors take larger components. Graduate RAs take the extra-large ones. Same repository, same review, same standard.</a:t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20040" y="4160520"/>
            <a:ext cx="8503920" cy="640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Nobody is doing a practice project. Every task on this platform is on the critical path of something.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 txBox="1"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MEDS-S1 — At a Glance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An open RISC-V SoC platform whose purpose is to be attached to  ·  Apache-2.0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365760" y="1143000"/>
            <a:ext cx="2011680" cy="1783080"/>
          </a:xfrm>
          <a:prstGeom prst="rect">
            <a:avLst/>
          </a:prstGeom>
          <a:solidFill>
            <a:srgbClr val="152236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502920" y="129844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RV64IMAC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502920" y="208483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S1-Core ISA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502920" y="23774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in-order, 5-stage, single issue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2514600" y="1143000"/>
            <a:ext cx="2011680" cy="1783080"/>
          </a:xfrm>
          <a:prstGeom prst="rect">
            <a:avLst/>
          </a:prstGeom>
          <a:solidFill>
            <a:srgbClr val="152236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2651760" y="129844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2651760" y="208483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attachment interfaces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2651760" y="23774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MXIF (tight) + socket (loose)</a:t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4663440" y="1143000"/>
            <a:ext cx="2011680" cy="1783080"/>
          </a:xfrm>
          <a:prstGeom prst="rect">
            <a:avLst/>
          </a:prstGeom>
          <a:solidFill>
            <a:srgbClr val="152236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4800600" y="129844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22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4800600" y="208483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 packages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4800600" y="23774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each with a named owner and backup</a:t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812280" y="1143000"/>
            <a:ext cx="2011680" cy="1783080"/>
          </a:xfrm>
          <a:prstGeom prst="rect">
            <a:avLst/>
          </a:prstGeom>
          <a:solidFill>
            <a:srgbClr val="152236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6949440" y="1298448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6949440" y="2084831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phases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6949440" y="23774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specs → core → SoC → FPGA → accelerators → Linux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365760" y="3090672"/>
            <a:ext cx="8412480" cy="1417320"/>
          </a:xfrm>
          <a:prstGeom prst="rect">
            <a:avLst/>
          </a:prstGeom>
          <a:solidFill>
            <a:srgbClr val="152236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The idea in one paragraph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548640" y="3547872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scalar core is deliberately conventional — it will lose every IPC comparison to CVA6 or Rocket, and that is on purpose. The value is in the five things that are hard to build and harder to retrofit: frozen attachment interfaces, a generator, a verification harness, a BSP and debug path, and measurement infrastructure that makes every accelerator's performance claim comparable to every other one's.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MEDS-S1 = the platform   ·   S1-Core = the CPU inside it   ·   MXIF = the extension interface   ·   MEDS-X-&lt;name&gt; = any accelerator built for 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Why a Platform — Not Another Core</a:t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The motivation: a concrete base that the next four years of MEDS research is built on</a:t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20040" y="1143000"/>
            <a:ext cx="416052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320040" y="1143000"/>
            <a:ext cx="4160520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502920" y="1325880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/>
          </a:p>
        </p:txBody>
      </p:sp>
      <p:sp>
        <p:nvSpPr>
          <p:cNvPr id="314" name="Google Shape;314;p10"/>
          <p:cNvSpPr txBox="1"/>
          <p:nvPr/>
        </p:nvSpPr>
        <p:spPr>
          <a:xfrm>
            <a:off x="502920" y="1719072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315" name="Google Shape;315;p10"/>
          <p:cNvSpPr txBox="1"/>
          <p:nvPr/>
        </p:nvSpPr>
        <p:spPr>
          <a:xfrm>
            <a:off x="749808" y="1719072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Accelerators that were never attached to a processor</a:t>
            </a:r>
            <a:endParaRPr/>
          </a:p>
        </p:txBody>
      </p:sp>
      <p:sp>
        <p:nvSpPr>
          <p:cNvPr id="316" name="Google Shape;316;p10"/>
          <p:cNvSpPr txBox="1"/>
          <p:nvPr/>
        </p:nvSpPr>
        <p:spPr>
          <a:xfrm>
            <a:off x="502920" y="2157984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>
            <a:off x="749808" y="2157984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Impressive TOPS/W numbers with no system context — reviewers know, and discount</a:t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502920" y="259689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749808" y="259689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Every thesis student rebuilds the plumbing before doing any research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502920" y="303580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321" name="Google Shape;321;p10"/>
          <p:cNvSpPr txBox="1"/>
          <p:nvPr/>
        </p:nvSpPr>
        <p:spPr>
          <a:xfrm>
            <a:off x="749808" y="3035808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Each cohort starts from zero; nothing compounds</a:t>
            </a:r>
            <a:endParaRPr/>
          </a:p>
        </p:txBody>
      </p:sp>
      <p:sp>
        <p:nvSpPr>
          <p:cNvPr id="322" name="Google Shape;322;p10"/>
          <p:cNvSpPr txBox="1"/>
          <p:nvPr/>
        </p:nvSpPr>
        <p:spPr>
          <a:xfrm>
            <a:off x="502920" y="347472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749808" y="3474720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No two students' results are comparable</a:t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4663440" y="1143000"/>
            <a:ext cx="416052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4663440" y="1143000"/>
            <a:ext cx="416052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4846320" y="1325880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What MEDS-S1 does about it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4846320" y="1719072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28" name="Google Shape;328;p10"/>
          <p:cNvSpPr txBox="1"/>
          <p:nvPr/>
        </p:nvSpPr>
        <p:spPr>
          <a:xfrm>
            <a:off x="5093208" y="1719072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A working SoC on day one — the contribution is the accelerator, not the plumbing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4846320" y="2157984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5093208" y="2157984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Two frozen attachment points: MXIF for instructions, the socket for work</a:t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4846320" y="259689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32" name="Google Shape;332;p10"/>
          <p:cNvSpPr txBox="1"/>
          <p:nvPr/>
        </p:nvSpPr>
        <p:spPr>
          <a:xfrm>
            <a:off x="5093208" y="259689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Measurement built in, so every claim is comparable to every other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4846320" y="3035808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5093208" y="3035808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MS and FYP students add ML accelerators onto a base that already runs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4846320" y="347472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336" name="Google Shape;336;p10"/>
          <p:cNvSpPr txBox="1"/>
          <p:nvPr/>
        </p:nvSpPr>
        <p:spPr>
          <a:xfrm>
            <a:off x="5093208" y="3474720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Real performance numbers behind every paper we publish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20040" y="4160520"/>
            <a:ext cx="8503920" cy="640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The flywheel:  a concrete base  →  accelerators attach in a semester  →  real numbers  →  publications  →  funding  →  a bigger base.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MEDS-S1 — Block Diagram  (S1-AI configuration)</a:t>
            </a:r>
            <a:endParaRPr/>
          </a:p>
        </p:txBody>
      </p:sp>
      <p:sp>
        <p:nvSpPr>
          <p:cNvPr id="346" name="Google Shape;346;p11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Colour shows who owns it. Mentees: study this, then tell us where you want to work.</a:t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20040" y="1106424"/>
            <a:ext cx="137160" cy="1371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512063" y="10881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Mentee — small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1691640" y="1106424"/>
            <a:ext cx="137160" cy="13716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 txBox="1"/>
          <p:nvPr/>
        </p:nvSpPr>
        <p:spPr>
          <a:xfrm>
            <a:off x="1883664" y="10881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Mentor — large</a:t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3063240" y="1106424"/>
            <a:ext cx="137160" cy="1371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3255264" y="10881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Graduate RA — extra large</a:t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5120640" y="1106424"/>
            <a:ext cx="137160" cy="13716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5312664" y="10881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MEDS-V — final year project</a:t>
            </a:r>
            <a:endParaRPr/>
          </a:p>
        </p:txBody>
      </p:sp>
      <p:sp>
        <p:nvSpPr>
          <p:cNvPr id="356" name="Google Shape;356;p11"/>
          <p:cNvSpPr txBox="1"/>
          <p:nvPr/>
        </p:nvSpPr>
        <p:spPr>
          <a:xfrm>
            <a:off x="6903720" y="1088136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 = work package</a:t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320040" y="1335024"/>
            <a:ext cx="5669280" cy="170078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320040" y="1335024"/>
            <a:ext cx="5669280" cy="2377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411480" y="13578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S1-CORE — RV64IMAC_Zicsr_Zifencei_Zicbom_Zicboz</a:t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429768" y="1627632"/>
            <a:ext cx="548640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429768" y="1627632"/>
            <a:ext cx="5486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466344" y="1714500"/>
            <a:ext cx="4754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endParaRPr/>
          </a:p>
        </p:txBody>
      </p:sp>
      <p:sp>
        <p:nvSpPr>
          <p:cNvPr id="363" name="Google Shape;363;p11"/>
          <p:cNvSpPr txBox="1"/>
          <p:nvPr/>
        </p:nvSpPr>
        <p:spPr>
          <a:xfrm>
            <a:off x="457200" y="1865376"/>
            <a:ext cx="493776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WP2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1024128" y="1627632"/>
            <a:ext cx="548640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1024128" y="1627632"/>
            <a:ext cx="5486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1060704" y="1714500"/>
            <a:ext cx="4754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/>
          </a:p>
        </p:txBody>
      </p:sp>
      <p:sp>
        <p:nvSpPr>
          <p:cNvPr id="367" name="Google Shape;367;p11"/>
          <p:cNvSpPr txBox="1"/>
          <p:nvPr/>
        </p:nvSpPr>
        <p:spPr>
          <a:xfrm>
            <a:off x="1051560" y="1865376"/>
            <a:ext cx="493776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WP3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1618488" y="1627632"/>
            <a:ext cx="548640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618488" y="1627632"/>
            <a:ext cx="5486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1655064" y="1714500"/>
            <a:ext cx="4754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>
            <a:off x="1645920" y="1865376"/>
            <a:ext cx="493776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WP3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2212848" y="1627632"/>
            <a:ext cx="548640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2212848" y="1627632"/>
            <a:ext cx="5486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 txBox="1"/>
          <p:nvPr/>
        </p:nvSpPr>
        <p:spPr>
          <a:xfrm>
            <a:off x="2249424" y="1714500"/>
            <a:ext cx="4754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/>
          </a:p>
        </p:txBody>
      </p:sp>
      <p:sp>
        <p:nvSpPr>
          <p:cNvPr id="375" name="Google Shape;375;p11"/>
          <p:cNvSpPr txBox="1"/>
          <p:nvPr/>
        </p:nvSpPr>
        <p:spPr>
          <a:xfrm>
            <a:off x="2240279" y="1865376"/>
            <a:ext cx="493776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WP3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2807208" y="1627632"/>
            <a:ext cx="548640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2807208" y="1627632"/>
            <a:ext cx="5486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2843784" y="1714500"/>
            <a:ext cx="4754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2834640" y="1865376"/>
            <a:ext cx="493776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WP3</a:t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3447288" y="1627632"/>
            <a:ext cx="1170432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3447288" y="1627632"/>
            <a:ext cx="1170432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3483864" y="1714500"/>
            <a:ext cx="1097280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COMPLETION BUFFER</a:t>
            </a:r>
            <a:endParaRPr/>
          </a:p>
        </p:txBody>
      </p:sp>
      <p:sp>
        <p:nvSpPr>
          <p:cNvPr id="383" name="Google Shape;383;p11"/>
          <p:cNvSpPr txBox="1"/>
          <p:nvPr/>
        </p:nvSpPr>
        <p:spPr>
          <a:xfrm>
            <a:off x="3474720" y="1865376"/>
            <a:ext cx="1115568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8 entry · WP5</a:t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4709160" y="1627632"/>
            <a:ext cx="1170432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4709160" y="1627632"/>
            <a:ext cx="1170432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4745736" y="1714500"/>
            <a:ext cx="1097280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MXIF PORT</a:t>
            </a:r>
            <a:endParaRPr/>
          </a:p>
        </p:txBody>
      </p:sp>
      <p:sp>
        <p:nvSpPr>
          <p:cNvPr id="387" name="Google Shape;387;p11"/>
          <p:cNvSpPr txBox="1"/>
          <p:nvPr/>
        </p:nvSpPr>
        <p:spPr>
          <a:xfrm>
            <a:off x="4736592" y="1865376"/>
            <a:ext cx="1115568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tightly coupled · WP5</a:t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29768" y="2029968"/>
            <a:ext cx="1307592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429768" y="2029968"/>
            <a:ext cx="1307592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466344" y="2116836"/>
            <a:ext cx="1234439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MUL / DIV</a:t>
            </a:r>
            <a:endParaRPr/>
          </a:p>
        </p:txBody>
      </p:sp>
      <p:sp>
        <p:nvSpPr>
          <p:cNvPr id="391" name="Google Shape;391;p11"/>
          <p:cNvSpPr txBox="1"/>
          <p:nvPr/>
        </p:nvSpPr>
        <p:spPr>
          <a:xfrm>
            <a:off x="457200" y="2267712"/>
            <a:ext cx="1252728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WP3</a:t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1805939" y="2029968"/>
            <a:ext cx="1307592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1805939" y="2029968"/>
            <a:ext cx="1307592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1842515" y="2116836"/>
            <a:ext cx="1234439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CSR, traps, privilege</a:t>
            </a:r>
            <a:endParaRPr/>
          </a:p>
        </p:txBody>
      </p:sp>
      <p:sp>
        <p:nvSpPr>
          <p:cNvPr id="395" name="Google Shape;395;p11"/>
          <p:cNvSpPr txBox="1"/>
          <p:nvPr/>
        </p:nvSpPr>
        <p:spPr>
          <a:xfrm>
            <a:off x="1833372" y="2267712"/>
            <a:ext cx="1252728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perf counters · WP4</a:t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3182111" y="2029968"/>
            <a:ext cx="1307592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182111" y="2029968"/>
            <a:ext cx="1307592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3218687" y="2116836"/>
            <a:ext cx="1234439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LSU + store buffer</a:t>
            </a:r>
            <a:endParaRPr/>
          </a:p>
        </p:txBody>
      </p:sp>
      <p:sp>
        <p:nvSpPr>
          <p:cNvPr id="399" name="Google Shape;399;p11"/>
          <p:cNvSpPr txBox="1"/>
          <p:nvPr/>
        </p:nvSpPr>
        <p:spPr>
          <a:xfrm>
            <a:off x="3209543" y="2267712"/>
            <a:ext cx="1252728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AMO / LR-SC · WP6</a:t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4558283" y="2029968"/>
            <a:ext cx="1307592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4558283" y="2029968"/>
            <a:ext cx="1307592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4594859" y="2116836"/>
            <a:ext cx="1234439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PMP + PMA check</a:t>
            </a:r>
            <a:endParaRPr/>
          </a:p>
        </p:txBody>
      </p:sp>
      <p:sp>
        <p:nvSpPr>
          <p:cNvPr id="403" name="Google Shape;403;p11"/>
          <p:cNvSpPr txBox="1"/>
          <p:nvPr/>
        </p:nvSpPr>
        <p:spPr>
          <a:xfrm>
            <a:off x="4585716" y="2267712"/>
            <a:ext cx="1252728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WP6</a:t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429768" y="2432304"/>
            <a:ext cx="1773936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29768" y="2432304"/>
            <a:ext cx="1773936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466344" y="2519172"/>
            <a:ext cx="1700784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I$  16 KB 2-way</a:t>
            </a:r>
            <a:endParaRPr/>
          </a:p>
        </p:txBody>
      </p:sp>
      <p:sp>
        <p:nvSpPr>
          <p:cNvPr id="407" name="Google Shape;407;p11"/>
          <p:cNvSpPr txBox="1"/>
          <p:nvPr/>
        </p:nvSpPr>
        <p:spPr>
          <a:xfrm>
            <a:off x="457200" y="2670048"/>
            <a:ext cx="1719072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WP7</a:t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2267711" y="2432304"/>
            <a:ext cx="1773936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2267711" y="2432304"/>
            <a:ext cx="1773936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2304287" y="2519172"/>
            <a:ext cx="1700784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D$  16 KB write-back</a:t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2295143" y="2670048"/>
            <a:ext cx="1719072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Zicbom · WP7</a:t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4105655" y="2432304"/>
            <a:ext cx="1773936" cy="34747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4105655" y="2432304"/>
            <a:ext cx="1773936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4142231" y="2519172"/>
            <a:ext cx="1700784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MMU / PTW — Sv39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4133087" y="2670048"/>
            <a:ext cx="1719072" cy="96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Phase 5 · WP20</a:t>
            </a:r>
            <a:endParaRPr/>
          </a:p>
        </p:txBody>
      </p:sp>
      <p:sp>
        <p:nvSpPr>
          <p:cNvPr id="416" name="Google Shape;416;p11"/>
          <p:cNvSpPr txBox="1"/>
          <p:nvPr/>
        </p:nvSpPr>
        <p:spPr>
          <a:xfrm>
            <a:off x="429768" y="2825496"/>
            <a:ext cx="544982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in-order issue  ·  out-of-order completion  ·  in-order retire  ·  RVFI trace at commit (WP11)</a:t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6080760" y="1335024"/>
            <a:ext cx="2743200" cy="62179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080760" y="1335024"/>
            <a:ext cx="2743200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6117336" y="1421892"/>
            <a:ext cx="26700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JTAG → DTM → Debug Module</a:t>
            </a:r>
            <a:endParaRPr/>
          </a:p>
        </p:txBody>
      </p:sp>
      <p:sp>
        <p:nvSpPr>
          <p:cNvPr id="420" name="Google Shape;420;p11"/>
          <p:cNvSpPr txBox="1"/>
          <p:nvPr/>
        </p:nvSpPr>
        <p:spPr>
          <a:xfrm>
            <a:off x="6108192" y="1572768"/>
            <a:ext cx="268833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halt / resume / step, abstract commands,</a:t>
            </a:r>
            <a:b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system-bus master  ·  WP15</a:t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6080760" y="2029968"/>
            <a:ext cx="2743200" cy="100584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6080760" y="2029968"/>
            <a:ext cx="2743200" cy="457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6117336" y="2116836"/>
            <a:ext cx="26700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MEDS-V — vector coprocessor</a:t>
            </a:r>
            <a:endParaRPr/>
          </a:p>
        </p:txBody>
      </p:sp>
      <p:sp>
        <p:nvSpPr>
          <p:cNvPr id="424" name="Google Shape;424;p11"/>
          <p:cNvSpPr txBox="1"/>
          <p:nvPr/>
        </p:nvSpPr>
        <p:spPr>
          <a:xfrm>
            <a:off x="6108192" y="2267712"/>
            <a:ext cx="2688336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attaches over MXIF — tightly coupled</a:t>
            </a:r>
            <a:b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RVV  ·  VLEN 128–512  ·  1–4 lanes</a:t>
            </a:r>
            <a:b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own 256-bit memory port</a:t>
            </a:r>
            <a:b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MXIF adapter is WP18</a:t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1097280" y="303580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2377440" y="303580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7452360" y="303580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20040" y="3127248"/>
            <a:ext cx="8503920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320040" y="3127248"/>
            <a:ext cx="850392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 txBox="1"/>
          <p:nvPr/>
        </p:nvSpPr>
        <p:spPr>
          <a:xfrm>
            <a:off x="411480" y="3172968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AXI4 BACKBONE CROSSBAR  —  256-bit data / 40-bit address        WP8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978407" y="3419856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320040" y="3511296"/>
            <a:ext cx="1348740" cy="62179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320040" y="3511296"/>
            <a:ext cx="134874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 txBox="1"/>
          <p:nvPr/>
        </p:nvSpPr>
        <p:spPr>
          <a:xfrm>
            <a:off x="356615" y="3598163"/>
            <a:ext cx="12755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Boot ROM  32 KB</a:t>
            </a:r>
            <a:endParaRPr/>
          </a:p>
        </p:txBody>
      </p:sp>
      <p:sp>
        <p:nvSpPr>
          <p:cNvPr id="435" name="Google Shape;435;p11"/>
          <p:cNvSpPr txBox="1"/>
          <p:nvPr/>
        </p:nvSpPr>
        <p:spPr>
          <a:xfrm>
            <a:off x="347472" y="3749039"/>
            <a:ext cx="129387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2nd-stage loader · WP9</a:t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2409444" y="3419856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1751076" y="3511296"/>
            <a:ext cx="1348740" cy="62179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1751076" y="3511296"/>
            <a:ext cx="13487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 txBox="1"/>
          <p:nvPr/>
        </p:nvSpPr>
        <p:spPr>
          <a:xfrm>
            <a:off x="1787652" y="3598163"/>
            <a:ext cx="12755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On-chip SRAM  256 KB</a:t>
            </a:r>
            <a:endParaRPr/>
          </a:p>
        </p:txBody>
      </p:sp>
      <p:sp>
        <p:nvSpPr>
          <p:cNvPr id="440" name="Google Shape;440;p11"/>
          <p:cNvSpPr txBox="1"/>
          <p:nvPr/>
        </p:nvSpPr>
        <p:spPr>
          <a:xfrm>
            <a:off x="1778508" y="3749039"/>
            <a:ext cx="129387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WP8</a:t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3840480" y="3419856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182112" y="3511296"/>
            <a:ext cx="1348740" cy="62179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3182112" y="3511296"/>
            <a:ext cx="13487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3218688" y="3598163"/>
            <a:ext cx="12755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DDR3 via MIG  1 GB</a:t>
            </a:r>
            <a:endParaRPr/>
          </a:p>
        </p:txBody>
      </p:sp>
      <p:sp>
        <p:nvSpPr>
          <p:cNvPr id="445" name="Google Shape;445;p11"/>
          <p:cNvSpPr txBox="1"/>
          <p:nvPr/>
        </p:nvSpPr>
        <p:spPr>
          <a:xfrm>
            <a:off x="3209544" y="3749039"/>
            <a:ext cx="129387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KC705 · WP16</a:t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5271516" y="3419856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4613148" y="3511296"/>
            <a:ext cx="1348740" cy="62179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4613148" y="3511296"/>
            <a:ext cx="1348740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4649724" y="3598163"/>
            <a:ext cx="12755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ACCEL SOCKET 0</a:t>
            </a:r>
            <a:endParaRPr/>
          </a:p>
        </p:txBody>
      </p:sp>
      <p:sp>
        <p:nvSpPr>
          <p:cNvPr id="450" name="Google Shape;450;p11"/>
          <p:cNvSpPr txBox="1"/>
          <p:nvPr/>
        </p:nvSpPr>
        <p:spPr>
          <a:xfrm>
            <a:off x="4640580" y="3749039"/>
            <a:ext cx="129387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loosely coupled · WP17</a:t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6702551" y="3419856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6044183" y="3511296"/>
            <a:ext cx="1348740" cy="62179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044183" y="3511296"/>
            <a:ext cx="1348740" cy="45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6080759" y="3598163"/>
            <a:ext cx="12755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ACCEL SOCKET 1</a:t>
            </a:r>
            <a:endParaRPr/>
          </a:p>
        </p:txBody>
      </p:sp>
      <p:sp>
        <p:nvSpPr>
          <p:cNvPr id="455" name="Google Shape;455;p11"/>
          <p:cNvSpPr txBox="1"/>
          <p:nvPr/>
        </p:nvSpPr>
        <p:spPr>
          <a:xfrm>
            <a:off x="6071616" y="3749039"/>
            <a:ext cx="129387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loosely coupled · WP17</a:t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8133588" y="3419856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7475219" y="3511296"/>
            <a:ext cx="1348740" cy="62179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7475219" y="3511296"/>
            <a:ext cx="134874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 txBox="1"/>
          <p:nvPr/>
        </p:nvSpPr>
        <p:spPr>
          <a:xfrm>
            <a:off x="7511795" y="3598163"/>
            <a:ext cx="127558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AXI4-Lite bridge</a:t>
            </a:r>
            <a:endParaRPr/>
          </a:p>
        </p:txBody>
      </p:sp>
      <p:sp>
        <p:nvSpPr>
          <p:cNvPr id="460" name="Google Shape;460;p11"/>
          <p:cNvSpPr txBox="1"/>
          <p:nvPr/>
        </p:nvSpPr>
        <p:spPr>
          <a:xfrm>
            <a:off x="7502651" y="3749039"/>
            <a:ext cx="129387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WP8</a:t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8138160" y="4133087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886968" y="4224528"/>
            <a:ext cx="7269480" cy="1828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886968" y="422452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2115007" y="422452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3343046" y="422452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571085" y="422452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5799124" y="422452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7027164" y="422452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8255203" y="4224528"/>
            <a:ext cx="22860" cy="91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320040" y="4315968"/>
            <a:ext cx="1143000" cy="42062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320040" y="4315968"/>
            <a:ext cx="114300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 txBox="1"/>
          <p:nvPr/>
        </p:nvSpPr>
        <p:spPr>
          <a:xfrm>
            <a:off x="356615" y="4402836"/>
            <a:ext cx="10698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CLINT</a:t>
            </a:r>
            <a:endParaRPr/>
          </a:p>
        </p:txBody>
      </p:sp>
      <p:sp>
        <p:nvSpPr>
          <p:cNvPr id="473" name="Google Shape;473;p11"/>
          <p:cNvSpPr txBox="1"/>
          <p:nvPr/>
        </p:nvSpPr>
        <p:spPr>
          <a:xfrm>
            <a:off x="347472" y="4553712"/>
            <a:ext cx="1088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WP9</a:t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1548079" y="4315968"/>
            <a:ext cx="1143000" cy="42062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A7C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1548079" y="4315968"/>
            <a:ext cx="1143000" cy="45720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 txBox="1"/>
          <p:nvPr/>
        </p:nvSpPr>
        <p:spPr>
          <a:xfrm>
            <a:off x="1584655" y="4402836"/>
            <a:ext cx="10698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PLIC</a:t>
            </a:r>
            <a:endParaRPr/>
          </a:p>
        </p:txBody>
      </p:sp>
      <p:sp>
        <p:nvSpPr>
          <p:cNvPr id="477" name="Google Shape;477;p11"/>
          <p:cNvSpPr txBox="1"/>
          <p:nvPr/>
        </p:nvSpPr>
        <p:spPr>
          <a:xfrm>
            <a:off x="1575511" y="4553712"/>
            <a:ext cx="1088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WP9</a:t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2776118" y="4315968"/>
            <a:ext cx="1143000" cy="42062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2776118" y="4315968"/>
            <a:ext cx="114300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 txBox="1"/>
          <p:nvPr/>
        </p:nvSpPr>
        <p:spPr>
          <a:xfrm>
            <a:off x="2812694" y="4402836"/>
            <a:ext cx="10698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UART</a:t>
            </a:r>
            <a:endParaRPr/>
          </a:p>
        </p:txBody>
      </p:sp>
      <p:sp>
        <p:nvSpPr>
          <p:cNvPr id="481" name="Google Shape;481;p11"/>
          <p:cNvSpPr txBox="1"/>
          <p:nvPr/>
        </p:nvSpPr>
        <p:spPr>
          <a:xfrm>
            <a:off x="2803550" y="4553712"/>
            <a:ext cx="1088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WP9</a:t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4004157" y="4315968"/>
            <a:ext cx="1143000" cy="42062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4004157" y="4315968"/>
            <a:ext cx="114300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 txBox="1"/>
          <p:nvPr/>
        </p:nvSpPr>
        <p:spPr>
          <a:xfrm>
            <a:off x="4040733" y="4402836"/>
            <a:ext cx="10698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4031589" y="4553712"/>
            <a:ext cx="1088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WP9</a:t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5232196" y="4315968"/>
            <a:ext cx="1143000" cy="42062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5232196" y="4315968"/>
            <a:ext cx="114300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 txBox="1"/>
          <p:nvPr/>
        </p:nvSpPr>
        <p:spPr>
          <a:xfrm>
            <a:off x="5268772" y="4402836"/>
            <a:ext cx="10698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sp>
        <p:nvSpPr>
          <p:cNvPr id="489" name="Google Shape;489;p11"/>
          <p:cNvSpPr txBox="1"/>
          <p:nvPr/>
        </p:nvSpPr>
        <p:spPr>
          <a:xfrm>
            <a:off x="5259628" y="4553712"/>
            <a:ext cx="1088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WP9</a:t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6460236" y="4315968"/>
            <a:ext cx="1143000" cy="42062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6460236" y="4315968"/>
            <a:ext cx="114300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 txBox="1"/>
          <p:nvPr/>
        </p:nvSpPr>
        <p:spPr>
          <a:xfrm>
            <a:off x="6496812" y="4402836"/>
            <a:ext cx="10698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Timer</a:t>
            </a:r>
            <a:endParaRPr/>
          </a:p>
        </p:txBody>
      </p:sp>
      <p:sp>
        <p:nvSpPr>
          <p:cNvPr id="493" name="Google Shape;493;p11"/>
          <p:cNvSpPr txBox="1"/>
          <p:nvPr/>
        </p:nvSpPr>
        <p:spPr>
          <a:xfrm>
            <a:off x="6487668" y="4553712"/>
            <a:ext cx="1088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WP9</a:t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7688275" y="4315968"/>
            <a:ext cx="1143000" cy="420624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7688275" y="4315968"/>
            <a:ext cx="114300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 txBox="1"/>
          <p:nvPr/>
        </p:nvSpPr>
        <p:spPr>
          <a:xfrm>
            <a:off x="7724851" y="4402836"/>
            <a:ext cx="1069848" cy="14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Accel MMIO</a:t>
            </a:r>
            <a:endParaRPr/>
          </a:p>
        </p:txBody>
      </p:sp>
      <p:sp>
        <p:nvSpPr>
          <p:cNvPr id="497" name="Google Shape;497;p11"/>
          <p:cNvSpPr txBox="1"/>
          <p:nvPr/>
        </p:nvSpPr>
        <p:spPr>
          <a:xfrm>
            <a:off x="7715707" y="4553712"/>
            <a:ext cx="1088136" cy="169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WP17</a:t>
            </a:r>
            <a:endParaRPr/>
          </a:p>
        </p:txBody>
      </p:sp>
      <p:sp>
        <p:nvSpPr>
          <p:cNvPr id="498" name="Google Shape;498;p11"/>
          <p:cNvSpPr txBox="1"/>
          <p:nvPr/>
        </p:nvSpPr>
        <p:spPr>
          <a:xfrm>
            <a:off x="320040" y="4809744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Not on the diagram, and just as real:  SoC generator (WP10)  ·  RVFI + Spike co-simulation (WP11)  ·  RISCOF arch-tests (WP12)  ·  unit TBs &amp; coverage (WP13)  ·  BSP (WP14)  ·  benchmarks (WP19)  ·  docs (WP22)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The Component Menu — Where Do You Want to Work?</a:t>
            </a:r>
            <a:endParaRPr/>
          </a:p>
        </p:txBody>
      </p:sp>
      <p:sp>
        <p:nvSpPr>
          <p:cNvPr id="505" name="Google Shape;505;p12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Sized by tier. Everything here is a real component of MEDS-S1 with a spec, a testbench and a merge gate.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320040" y="1143000"/>
            <a:ext cx="2743200" cy="2852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 txBox="1"/>
          <p:nvPr/>
        </p:nvSpPr>
        <p:spPr>
          <a:xfrm>
            <a:off x="466344" y="131673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MENTEES</a:t>
            </a:r>
            <a:endParaRPr/>
          </a:p>
        </p:txBody>
      </p:sp>
      <p:sp>
        <p:nvSpPr>
          <p:cNvPr id="510" name="Google Shape;510;p12"/>
          <p:cNvSpPr txBox="1"/>
          <p:nvPr/>
        </p:nvSpPr>
        <p:spPr>
          <a:xfrm>
            <a:off x="466344" y="159105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Training completion projects</a:t>
            </a:r>
            <a:endParaRPr/>
          </a:p>
        </p:txBody>
      </p:sp>
      <p:sp>
        <p:nvSpPr>
          <p:cNvPr id="511" name="Google Shape;511;p12"/>
          <p:cNvSpPr txBox="1"/>
          <p:nvPr/>
        </p:nvSpPr>
        <p:spPr>
          <a:xfrm>
            <a:off x="466344" y="1792224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small, bounded — a task fits in ≤ 20 hours</a:t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466344" y="2048256"/>
            <a:ext cx="411480" cy="2743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 txBox="1"/>
          <p:nvPr/>
        </p:nvSpPr>
        <p:spPr>
          <a:xfrm>
            <a:off x="466344" y="2157984"/>
            <a:ext cx="24505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UART / SPI / GPIO / Timer peripherals  (WP9)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Boot ROM + second-stage loader  (WP9)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Directed unit testbenches + coverage  (WP13)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Benchmark &amp; workload suite  (WP19)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HAL drivers for peripherals  (WP14)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Accelerator MMIO register blocks  (WP17)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Docs &amp; release engineering  (WP22)</a:t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3200400" y="1143000"/>
            <a:ext cx="2743200" cy="2852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 txBox="1"/>
          <p:nvPr/>
        </p:nvSpPr>
        <p:spPr>
          <a:xfrm>
            <a:off x="3346704" y="131673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MENTORS</a:t>
            </a:r>
            <a:endParaRPr/>
          </a:p>
        </p:txBody>
      </p:sp>
      <p:sp>
        <p:nvSpPr>
          <p:cNvPr id="517" name="Google Shape;517;p12"/>
          <p:cNvSpPr txBox="1"/>
          <p:nvPr/>
        </p:nvSpPr>
        <p:spPr>
          <a:xfrm>
            <a:off x="3346704" y="159105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Larger components</a:t>
            </a:r>
            <a:endParaRPr/>
          </a:p>
        </p:txBody>
      </p:sp>
      <p:sp>
        <p:nvSpPr>
          <p:cNvPr id="518" name="Google Shape;518;p12"/>
          <p:cNvSpPr txBox="1"/>
          <p:nvPr/>
        </p:nvSpPr>
        <p:spPr>
          <a:xfrm>
            <a:off x="3346704" y="1792224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one owner, one spec, one testbench</a:t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3346704" y="2048256"/>
            <a:ext cx="411480" cy="27432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 txBox="1"/>
          <p:nvPr/>
        </p:nvSpPr>
        <p:spPr>
          <a:xfrm>
            <a:off x="3346704" y="2157984"/>
            <a:ext cx="24505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Core frontend — PC, BTFN, fetch, C-expansion  (WP2)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Core backend — decode, regfile, ALU, hazards  (WP3)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CSR file, traps, privilege FSM, counters  (WP4)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AXI4 fabric, crossbar, address decode  (WP8)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CLINT + PLIC  (WP9)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BSP — crt0, newlib, HAL, libs1_perf  (WP14)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RISCOF + arch-tests in CI  (WP12)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KC705 board port, MIG / DDR bring-up  (WP16)</a:t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6080759" y="1143000"/>
            <a:ext cx="2743200" cy="2852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6080759" y="1143000"/>
            <a:ext cx="2743200" cy="640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 txBox="1"/>
          <p:nvPr/>
        </p:nvSpPr>
        <p:spPr>
          <a:xfrm>
            <a:off x="6227064" y="131673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GRADUATE RAs</a:t>
            </a:r>
            <a:endParaRPr/>
          </a:p>
        </p:txBody>
      </p:sp>
      <p:sp>
        <p:nvSpPr>
          <p:cNvPr id="524" name="Google Shape;524;p12"/>
          <p:cNvSpPr txBox="1"/>
          <p:nvPr/>
        </p:nvSpPr>
        <p:spPr>
          <a:xfrm>
            <a:off x="6227064" y="1591056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Extra-large components</a:t>
            </a:r>
            <a:endParaRPr/>
          </a:p>
        </p:txBody>
      </p:sp>
      <p:sp>
        <p:nvSpPr>
          <p:cNvPr id="525" name="Google Shape;525;p12"/>
          <p:cNvSpPr txBox="1"/>
          <p:nvPr/>
        </p:nvSpPr>
        <p:spPr>
          <a:xfrm>
            <a:off x="6227064" y="1792224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on the critical path, or an interface</a:t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6227064" y="2048256"/>
            <a:ext cx="411480" cy="2743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 txBox="1"/>
          <p:nvPr/>
        </p:nvSpPr>
        <p:spPr>
          <a:xfrm>
            <a:off x="6227064" y="2157984"/>
            <a:ext cx="2450592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Completion buffer + retire + MXIF port  (WP5)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LSU, store buffer, PMP + PMA, AMO / LR-SC  (WP6)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I$ / D$, Zicbom, SRAM wrapper  (WP7)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SoC generator — soc.yaml → RTL, ld, DTS  (WP10)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RVFI port + Spike co-simulation  (WP11)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Debug Module + DTM + OpenOCD  (WP15)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Accelerator socket + conformance TBs  (WP17)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•  MMU / PTW / Sv39  (WP20, Phase 5)</a:t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320040" y="4133087"/>
            <a:ext cx="8503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320040" y="4133087"/>
            <a:ext cx="850392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 txBox="1"/>
          <p:nvPr/>
        </p:nvSpPr>
        <p:spPr>
          <a:xfrm>
            <a:off x="502920" y="4315968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WP5 is the hardest package and sits on the critical path. WP9, WP13 and WP19 are the best places to start.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MEDS-V — MEDS-S1's First Client</a:t>
            </a:r>
            <a:endParaRPr/>
          </a:p>
        </p:txBody>
      </p:sp>
      <p:sp>
        <p:nvSpPr>
          <p:cNvPr id="537" name="Google Shape;537;p13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Led by Shehzeen  ·  four mentors, as their Final Year Project</a:t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320040" y="114300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 txBox="1"/>
          <p:nvPr/>
        </p:nvSpPr>
        <p:spPr>
          <a:xfrm>
            <a:off x="484632" y="13258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9C46A"/>
                </a:solidFill>
                <a:latin typeface="Arial Black"/>
                <a:ea typeface="Arial Black"/>
                <a:cs typeface="Arial Black"/>
                <a:sym typeface="Arial Black"/>
              </a:rPr>
              <a:t>What it is</a:t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484632" y="1673352"/>
            <a:ext cx="457200" cy="274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 txBox="1"/>
          <p:nvPr/>
        </p:nvSpPr>
        <p:spPr>
          <a:xfrm>
            <a:off x="484632" y="1801368"/>
            <a:ext cx="24140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A RISC-V vector coprocessor (RVV), attaching to MEDS-S1 over MXIF — the tightly-coupled instruction-extension port. VLEN 128–512, one to four lanes, with its own wide memory port.</a:t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3200400" y="114300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 txBox="1"/>
          <p:nvPr/>
        </p:nvSpPr>
        <p:spPr>
          <a:xfrm>
            <a:off x="3364992" y="13258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Why it matters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3364992" y="1673352"/>
            <a:ext cx="457200" cy="27432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 txBox="1"/>
          <p:nvPr/>
        </p:nvSpPr>
        <p:spPr>
          <a:xfrm>
            <a:off x="3364992" y="1801368"/>
            <a:ext cx="24140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It is the first accelerator to attach through a frozen interface. If MEDS-V attaches with zero changes to core RTL, the interface is real. If it does not, we find out now rather than in a thesis.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6080759" y="1143000"/>
            <a:ext cx="27432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6080759" y="1143000"/>
            <a:ext cx="2743200" cy="6400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 txBox="1"/>
          <p:nvPr/>
        </p:nvSpPr>
        <p:spPr>
          <a:xfrm>
            <a:off x="6245351" y="13258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The proof of concept</a:t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6245351" y="1673352"/>
            <a:ext cx="457200" cy="2743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 txBox="1"/>
          <p:nvPr/>
        </p:nvSpPr>
        <p:spPr>
          <a:xfrm>
            <a:off x="6245351" y="1801368"/>
            <a:ext cx="2414016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MEDS-V is integrated into MEDS-S1 and its performance is measured by the platform — end-to-end, in a system, against a scalar baseline. That measurement is the proof.</a:t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320040" y="3200400"/>
            <a:ext cx="8503920" cy="932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320040" y="3200400"/>
            <a:ext cx="8503920" cy="640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 txBox="1"/>
          <p:nvPr/>
        </p:nvSpPr>
        <p:spPr>
          <a:xfrm>
            <a:off x="502920" y="336499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Phase-4 exit criterion — the test the whole project is judged on</a:t>
            </a:r>
            <a:endParaRPr/>
          </a:p>
        </p:txBody>
      </p:sp>
      <p:sp>
        <p:nvSpPr>
          <p:cNvPr id="557" name="Google Shape;557;p13"/>
          <p:cNvSpPr txBox="1"/>
          <p:nvPr/>
        </p:nvSpPr>
        <p:spPr>
          <a:xfrm>
            <a:off x="502920" y="3639312"/>
            <a:ext cx="8138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Two accelerators attached by two people who did not write the core, with zero modification to core RTL. MEDS-V is the first of those two.</a:t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>
            <a:off x="320040" y="4261104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320040" y="4261104"/>
            <a:ext cx="8503920" cy="6400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 txBox="1"/>
          <p:nvPr/>
        </p:nvSpPr>
        <p:spPr>
          <a:xfrm>
            <a:off x="502920" y="4425696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For the mentees: this is what your final-year project can look like next year — attach something to a platform that already runs.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4"/>
          <p:cNvSpPr txBox="1"/>
          <p:nvPr/>
        </p:nvSpPr>
        <p:spPr>
          <a:xfrm>
            <a:off x="5029200" y="-27432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0" u="none" cap="none" strike="noStrike">
                <a:solidFill>
                  <a:srgbClr val="1B3052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/>
          </a:p>
        </p:txBody>
      </p:sp>
      <p:sp>
        <p:nvSpPr>
          <p:cNvPr id="566" name="Google Shape;566;p14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Over to You</a:t>
            </a:r>
            <a:endParaRPr/>
          </a:p>
        </p:txBody>
      </p:sp>
      <p:sp>
        <p:nvSpPr>
          <p:cNvPr id="567" name="Google Shape;567;p14"/>
          <p:cNvSpPr txBox="1"/>
          <p:nvPr/>
        </p:nvSpPr>
        <p:spPr>
          <a:xfrm>
            <a:off x="548640" y="292608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How you get your component — and what we need before Thursday</a:t>
            </a:r>
            <a:endParaRPr/>
          </a:p>
        </p:txBody>
      </p:sp>
      <p:sp>
        <p:nvSpPr>
          <p:cNvPr id="568" name="Google Shape;568;p14"/>
          <p:cNvSpPr/>
          <p:nvPr/>
        </p:nvSpPr>
        <p:spPr>
          <a:xfrm>
            <a:off x="548640" y="2788920"/>
            <a:ext cx="1005840" cy="45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"/>
          <p:cNvSpPr txBox="1"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How You Get Your Component</a:t>
            </a:r>
            <a:endParaRPr/>
          </a:p>
        </p:txBody>
      </p:sp>
      <p:sp>
        <p:nvSpPr>
          <p:cNvPr id="574" name="Google Shape;574;p15"/>
          <p:cNvSpPr txBox="1"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Assignments follow stated preferences. Which means we need them stated.</a:t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 txBox="1"/>
          <p:nvPr/>
        </p:nvSpPr>
        <p:spPr>
          <a:xfrm>
            <a:off x="457200" y="1161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577" name="Google Shape;577;p15"/>
          <p:cNvSpPr txBox="1"/>
          <p:nvPr/>
        </p:nvSpPr>
        <p:spPr>
          <a:xfrm>
            <a:off x="1097280" y="112471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Study the block diagram this week</a:t>
            </a:r>
            <a:endParaRPr/>
          </a:p>
        </p:txBody>
      </p:sp>
      <p:sp>
        <p:nvSpPr>
          <p:cNvPr id="578" name="Google Shape;578;p15"/>
          <p:cNvSpPr txBox="1"/>
          <p:nvPr/>
        </p:nvSpPr>
        <p:spPr>
          <a:xfrm>
            <a:off x="1097280" y="1563624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Read the component menu. Ask your mentor what a component actually involves.</a:t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4846320" y="114300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5"/>
          <p:cNvSpPr txBox="1"/>
          <p:nvPr/>
        </p:nvSpPr>
        <p:spPr>
          <a:xfrm>
            <a:off x="4846320" y="11612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/>
          </a:p>
        </p:txBody>
      </p:sp>
      <p:sp>
        <p:nvSpPr>
          <p:cNvPr id="581" name="Google Shape;581;p15"/>
          <p:cNvSpPr txBox="1"/>
          <p:nvPr/>
        </p:nvSpPr>
        <p:spPr>
          <a:xfrm>
            <a:off x="5486400" y="112471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 three preferences, ranked</a:t>
            </a:r>
            <a:endParaRPr/>
          </a:p>
        </p:txBody>
      </p:sp>
      <p:sp>
        <p:nvSpPr>
          <p:cNvPr id="582" name="Google Shape;582;p15"/>
          <p:cNvSpPr txBox="1"/>
          <p:nvPr/>
        </p:nvSpPr>
        <p:spPr>
          <a:xfrm>
            <a:off x="5486400" y="1563624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Not one — three. Write one line on why for each. The 'why' is what we read.</a:t>
            </a: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 txBox="1"/>
          <p:nvPr/>
        </p:nvSpPr>
        <p:spPr>
          <a:xfrm>
            <a:off x="457200" y="23500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/>
          </a:p>
        </p:txBody>
      </p:sp>
      <p:sp>
        <p:nvSpPr>
          <p:cNvPr id="585" name="Google Shape;585;p15"/>
          <p:cNvSpPr txBox="1"/>
          <p:nvPr/>
        </p:nvSpPr>
        <p:spPr>
          <a:xfrm>
            <a:off x="1097280" y="231343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Thursday 6 August: the project-level list</a:t>
            </a:r>
            <a:endParaRPr/>
          </a:p>
        </p:txBody>
      </p:sp>
      <p:sp>
        <p:nvSpPr>
          <p:cNvPr id="586" name="Google Shape;586;p15"/>
          <p:cNvSpPr txBox="1"/>
          <p:nvPr/>
        </p:nvSpPr>
        <p:spPr>
          <a:xfrm>
            <a:off x="1097280" y="2752344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Components broken down into issue-sized tasks, each with a spec and a testbench plan.</a:t>
            </a: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4846320" y="233172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 txBox="1"/>
          <p:nvPr/>
        </p:nvSpPr>
        <p:spPr>
          <a:xfrm>
            <a:off x="4846320" y="23500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/>
          </a:p>
        </p:txBody>
      </p:sp>
      <p:sp>
        <p:nvSpPr>
          <p:cNvPr id="589" name="Google Shape;589;p15"/>
          <p:cNvSpPr txBox="1"/>
          <p:nvPr/>
        </p:nvSpPr>
        <p:spPr>
          <a:xfrm>
            <a:off x="5486400" y="2313432"/>
            <a:ext cx="3566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Assignments follow your preferences</a:t>
            </a:r>
            <a:endParaRPr/>
          </a:p>
        </p:txBody>
      </p:sp>
      <p:sp>
        <p:nvSpPr>
          <p:cNvPr id="590" name="Google Shape;590;p15"/>
          <p:cNvSpPr txBox="1"/>
          <p:nvPr/>
        </p:nvSpPr>
        <p:spPr>
          <a:xfrm>
            <a:off x="5486400" y="2752344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Where two people want the same component, the reasons you gave decide it.</a:t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152236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5"/>
          <p:cNvSpPr txBox="1"/>
          <p:nvPr/>
        </p:nvSpPr>
        <p:spPr>
          <a:xfrm>
            <a:off x="548640" y="3703320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653"/>
                </a:solidFill>
                <a:latin typeface="Arial Black"/>
                <a:ea typeface="Arial Black"/>
                <a:cs typeface="Arial Black"/>
                <a:sym typeface="Arial Black"/>
              </a:rPr>
              <a:t>A useful preference</a:t>
            </a:r>
            <a:endParaRPr/>
          </a:p>
        </p:txBody>
      </p:sp>
      <p:sp>
        <p:nvSpPr>
          <p:cNvPr id="593" name="Google Shape;593;p15"/>
          <p:cNvSpPr txBox="1"/>
          <p:nvPr/>
        </p:nvSpPr>
        <p:spPr>
          <a:xfrm>
            <a:off x="548640" y="3968496"/>
            <a:ext cx="37490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"D$ tag array plus its unit testbench. I want to understand caches, and I have written SystemVerilog testbenches during training."</a:t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4663440" y="3566160"/>
            <a:ext cx="4114800" cy="1097280"/>
          </a:xfrm>
          <a:prstGeom prst="rect">
            <a:avLst/>
          </a:prstGeom>
          <a:solidFill>
            <a:srgbClr val="15223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 txBox="1"/>
          <p:nvPr/>
        </p:nvSpPr>
        <p:spPr>
          <a:xfrm>
            <a:off x="4846320" y="3703320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A useless preference</a:t>
            </a:r>
            <a:endParaRPr/>
          </a:p>
        </p:txBody>
      </p:sp>
      <p:sp>
        <p:nvSpPr>
          <p:cNvPr id="596" name="Google Shape;596;p15"/>
          <p:cNvSpPr txBox="1"/>
          <p:nvPr/>
        </p:nvSpPr>
        <p:spPr>
          <a:xfrm>
            <a:off x="4846320" y="3968496"/>
            <a:ext cx="3749039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"Anything."    "Whatever is easiest."    "The most impressive one."</a:t>
            </a:r>
            <a:b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There is no bad component here — every one of them blocks something else.</a:t>
            </a:r>
            <a:endParaRPr/>
          </a:p>
        </p:txBody>
      </p:sp>
      <p:sp>
        <p:nvSpPr>
          <p:cNvPr id="597" name="Google Shape;597;p15"/>
          <p:cNvSpPr txBox="1"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Send preferences to your mentor. Mentors consolidate and send to the RAs.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 txBox="1"/>
          <p:nvPr/>
        </p:nvSpPr>
        <p:spPr>
          <a:xfrm>
            <a:off x="320040" y="1828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Dates That Matter</a:t>
            </a:r>
            <a:endParaRPr/>
          </a:p>
        </p:txBody>
      </p:sp>
      <p:sp>
        <p:nvSpPr>
          <p:cNvPr id="604" name="Google Shape;604;p16"/>
          <p:cNvSpPr txBox="1"/>
          <p:nvPr/>
        </p:nvSpPr>
        <p:spPr>
          <a:xfrm>
            <a:off x="320040" y="731520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Two tracks running at once — do not let the SERC deadline pass while you are reading specs.</a:t>
            </a:r>
            <a:endParaRPr/>
          </a:p>
        </p:txBody>
      </p:sp>
      <p:sp>
        <p:nvSpPr>
          <p:cNvPr id="605" name="Google Shape;605;p16"/>
          <p:cNvSpPr/>
          <p:nvPr/>
        </p:nvSpPr>
        <p:spPr>
          <a:xfrm>
            <a:off x="320040" y="996696"/>
            <a:ext cx="85039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MEDS-S1 TRACK</a:t>
            </a: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320040" y="1371600"/>
            <a:ext cx="41605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320040" y="1499616"/>
            <a:ext cx="45720" cy="65836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 txBox="1"/>
          <p:nvPr/>
        </p:nvSpPr>
        <p:spPr>
          <a:xfrm>
            <a:off x="475488" y="151790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This week</a:t>
            </a:r>
            <a:endParaRPr/>
          </a:p>
        </p:txBody>
      </p:sp>
      <p:sp>
        <p:nvSpPr>
          <p:cNvPr id="610" name="Google Shape;610;p16"/>
          <p:cNvSpPr txBox="1"/>
          <p:nvPr/>
        </p:nvSpPr>
        <p:spPr>
          <a:xfrm>
            <a:off x="475488" y="177393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Study the block diagram and the component menu</a:t>
            </a: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320040" y="2286000"/>
            <a:ext cx="45720" cy="65836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475488" y="230428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B2D8B"/>
                </a:solidFill>
                <a:latin typeface="Arial Black"/>
                <a:ea typeface="Arial Black"/>
                <a:cs typeface="Arial Black"/>
                <a:sym typeface="Arial Black"/>
              </a:rPr>
              <a:t>Thu 6 Aug</a:t>
            </a:r>
            <a:endParaRPr/>
          </a:p>
        </p:txBody>
      </p:sp>
      <p:sp>
        <p:nvSpPr>
          <p:cNvPr id="613" name="Google Shape;613;p16"/>
          <p:cNvSpPr txBox="1"/>
          <p:nvPr/>
        </p:nvSpPr>
        <p:spPr>
          <a:xfrm>
            <a:off x="475488" y="25603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Project-level list shared — components broken into tasks</a:t>
            </a: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320040" y="3072384"/>
            <a:ext cx="4572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475488" y="309067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Fri 7 Aug</a:t>
            </a:r>
            <a:endParaRPr/>
          </a:p>
        </p:txBody>
      </p:sp>
      <p:sp>
        <p:nvSpPr>
          <p:cNvPr id="616" name="Google Shape;616;p16"/>
          <p:cNvSpPr txBox="1"/>
          <p:nvPr/>
        </p:nvSpPr>
        <p:spPr>
          <a:xfrm>
            <a:off x="475488" y="3346703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Your three ranked preferences, with reasons, to your mentor</a:t>
            </a:r>
            <a:endParaRPr/>
          </a:p>
        </p:txBody>
      </p:sp>
      <p:sp>
        <p:nvSpPr>
          <p:cNvPr id="617" name="Google Shape;617;p16"/>
          <p:cNvSpPr/>
          <p:nvPr/>
        </p:nvSpPr>
        <p:spPr>
          <a:xfrm>
            <a:off x="320040" y="3858768"/>
            <a:ext cx="45720" cy="65836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475488" y="3877055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Next week</a:t>
            </a:r>
            <a:endParaRPr/>
          </a:p>
        </p:txBody>
      </p:sp>
      <p:sp>
        <p:nvSpPr>
          <p:cNvPr id="619" name="Google Shape;619;p16"/>
          <p:cNvSpPr txBox="1"/>
          <p:nvPr/>
        </p:nvSpPr>
        <p:spPr>
          <a:xfrm>
            <a:off x="475488" y="4133087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Assignments announced  ·  Phase 0 begins</a:t>
            </a:r>
            <a:endParaRPr/>
          </a:p>
        </p:txBody>
      </p:sp>
      <p:sp>
        <p:nvSpPr>
          <p:cNvPr id="620" name="Google Shape;620;p16"/>
          <p:cNvSpPr txBox="1"/>
          <p:nvPr/>
        </p:nvSpPr>
        <p:spPr>
          <a:xfrm>
            <a:off x="4663440" y="111556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7B39"/>
                </a:solidFill>
                <a:latin typeface="Arial Black"/>
                <a:ea typeface="Arial Black"/>
                <a:cs typeface="Arial Black"/>
                <a:sym typeface="Arial Black"/>
              </a:rPr>
              <a:t>SERC TRACK</a:t>
            </a: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4663440" y="1371600"/>
            <a:ext cx="41605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4663440" y="1499616"/>
            <a:ext cx="45720" cy="65836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 txBox="1"/>
          <p:nvPr/>
        </p:nvSpPr>
        <p:spPr>
          <a:xfrm>
            <a:off x="4818888" y="151790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B998B"/>
                </a:solidFill>
                <a:latin typeface="Arial Black"/>
                <a:ea typeface="Arial Black"/>
                <a:cs typeface="Arial Black"/>
                <a:sym typeface="Arial Black"/>
              </a:rPr>
              <a:t>Now</a:t>
            </a:r>
            <a:endParaRPr/>
          </a:p>
        </p:txBody>
      </p:sp>
      <p:sp>
        <p:nvSpPr>
          <p:cNvPr id="624" name="Google Shape;624;p16"/>
          <p:cNvSpPr txBox="1"/>
          <p:nvPr/>
        </p:nvSpPr>
        <p:spPr>
          <a:xfrm>
            <a:off x="4818888" y="177393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Decide if you are applying — final year and MS both funded</a:t>
            </a: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4663440" y="2286000"/>
            <a:ext cx="4572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 txBox="1"/>
          <p:nvPr/>
        </p:nvSpPr>
        <p:spPr>
          <a:xfrm>
            <a:off x="4818888" y="230428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Thu 13 Aug</a:t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4818888" y="25603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Applications close for MSc EE (Integrated Circuit Design)</a:t>
            </a:r>
            <a:endParaRPr/>
          </a:p>
        </p:txBody>
      </p:sp>
      <p:sp>
        <p:nvSpPr>
          <p:cNvPr id="628" name="Google Shape;628;p16"/>
          <p:cNvSpPr/>
          <p:nvPr/>
        </p:nvSpPr>
        <p:spPr>
          <a:xfrm>
            <a:off x="4663440" y="3072384"/>
            <a:ext cx="45720" cy="65836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 txBox="1"/>
          <p:nvPr/>
        </p:nvSpPr>
        <p:spPr>
          <a:xfrm>
            <a:off x="4818888" y="309067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07B39"/>
                </a:solidFill>
                <a:latin typeface="Arial Black"/>
                <a:ea typeface="Arial Black"/>
                <a:cs typeface="Arial Black"/>
                <a:sym typeface="Arial Black"/>
              </a:rPr>
              <a:t>Mon 17 Aug</a:t>
            </a:r>
            <a:endParaRPr/>
          </a:p>
        </p:txBody>
      </p:sp>
      <p:sp>
        <p:nvSpPr>
          <p:cNvPr id="630" name="Google Shape;630;p16"/>
          <p:cNvSpPr txBox="1"/>
          <p:nvPr/>
        </p:nvSpPr>
        <p:spPr>
          <a:xfrm>
            <a:off x="4818888" y="3346703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Admission test</a:t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4663440" y="3858768"/>
            <a:ext cx="45720" cy="658368"/>
          </a:xfrm>
          <a:prstGeom prst="rect">
            <a:avLst/>
          </a:prstGeom>
          <a:solidFill>
            <a:srgbClr val="1A7CC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 txBox="1"/>
          <p:nvPr/>
        </p:nvSpPr>
        <p:spPr>
          <a:xfrm>
            <a:off x="4818888" y="3877055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7CC1"/>
                </a:solidFill>
                <a:latin typeface="Arial Black"/>
                <a:ea typeface="Arial Black"/>
                <a:cs typeface="Arial Black"/>
                <a:sym typeface="Arial Black"/>
              </a:rPr>
              <a:t>Fall 2026</a:t>
            </a:r>
            <a:endParaRPr/>
          </a:p>
        </p:txBody>
      </p:sp>
      <p:sp>
        <p:nvSpPr>
          <p:cNvPr id="633" name="Google Shape;633;p16"/>
          <p:cNvSpPr txBox="1"/>
          <p:nvPr/>
        </p:nvSpPr>
        <p:spPr>
          <a:xfrm>
            <a:off x="4818888" y="4133087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Courses begin  ·  USTP cohorts start, dates to be confirmed</a:t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320040" y="4645152"/>
            <a:ext cx="85039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 txBox="1"/>
          <p:nvPr/>
        </p:nvSpPr>
        <p:spPr>
          <a:xfrm>
            <a:off x="502920" y="4745736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3A40"/>
                </a:solidFill>
                <a:latin typeface="Calibri"/>
                <a:ea typeface="Calibri"/>
                <a:cs typeface="Calibri"/>
                <a:sym typeface="Calibri"/>
              </a:rPr>
              <a:t>SERC queries: mislam@uet.edu.pk  ·  +92-42-99029147     |     MEDS-S1 queries: your mentor, then the graduate RAs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998B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7"/>
          <p:cNvSpPr txBox="1"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This is a MEDS project.</a:t>
            </a:r>
            <a:endParaRPr/>
          </a:p>
        </p:txBody>
      </p:sp>
      <p:sp>
        <p:nvSpPr>
          <p:cNvPr id="642" name="Google Shape;642;p17"/>
          <p:cNvSpPr txBox="1"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 the RAs' project. Not the mentors' project.</a:t>
            </a:r>
            <a:endParaRPr/>
          </a:p>
        </p:txBody>
      </p:sp>
      <p:sp>
        <p:nvSpPr>
          <p:cNvPr id="643" name="Google Shape;643;p17"/>
          <p:cNvSpPr txBox="1"/>
          <p:nvPr/>
        </p:nvSpPr>
        <p:spPr>
          <a:xfrm>
            <a:off x="457200" y="2487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Everyone here owns a piece of it. We all make it work.</a:t>
            </a:r>
            <a:endParaRPr/>
          </a:p>
        </p:txBody>
      </p:sp>
      <p:sp>
        <p:nvSpPr>
          <p:cNvPr id="644" name="Google Shape;644;p17"/>
          <p:cNvSpPr/>
          <p:nvPr/>
        </p:nvSpPr>
        <p:spPr>
          <a:xfrm>
            <a:off x="4069080" y="3127248"/>
            <a:ext cx="10058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7"/>
          <p:cNvSpPr txBox="1"/>
          <p:nvPr/>
        </p:nvSpPr>
        <p:spPr>
          <a:xfrm>
            <a:off x="457200" y="33375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Block diagram is out. Preferences by </a:t>
            </a:r>
            <a:r>
              <a:rPr b="1" lang="en-US"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Friday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. </a:t>
            </a:r>
            <a:endParaRPr/>
          </a:p>
        </p:txBody>
      </p:sp>
      <p:sp>
        <p:nvSpPr>
          <p:cNvPr id="646" name="Google Shape;646;p17"/>
          <p:cNvSpPr txBox="1"/>
          <p:nvPr/>
        </p:nvSpPr>
        <p:spPr>
          <a:xfrm>
            <a:off x="457200" y="3977639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647" name="Google Shape;647;p1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F5F0"/>
                </a:solidFill>
                <a:latin typeface="Calibri"/>
                <a:ea typeface="Calibri"/>
                <a:cs typeface="Calibri"/>
                <a:sym typeface="Calibri"/>
              </a:rPr>
              <a:t>MEDS Lab  ·  UET Lahore  ·  All Hands, August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